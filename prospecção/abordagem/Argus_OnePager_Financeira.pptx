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2088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088" cy="2514600"/>
          </a:xfrm>
          <a:prstGeom prst="rect">
            <a:avLst/>
          </a:prstGeom>
          <a:solidFill>
            <a:srgbClr val="171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667512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07007" y="65836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spc="5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25295" y="1097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50">
                <a:solidFill>
                  <a:srgbClr val="A8B6C6"/>
                </a:solidFill>
                <a:latin typeface="Consolas"/>
              </a:rPr>
              <a:t>ADMINISTRAÇÃO FIDUCIÁRIA E CUSTÓDIA DE FUNDOS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62819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F3F6FA"/>
                </a:solidFill>
                <a:latin typeface="Georgia"/>
              </a:rPr>
              <a:t>A porta que abriu em 2025 — e quase
ninguém percebeu.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12848"/>
            <a:ext cx="62819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1FC0EF"/>
                </a:solidFill>
                <a:latin typeface="Calibri"/>
              </a:rPr>
              <a:t>Administração fiduciária de fundos — proposta de parceria para a sua financeira.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2862072"/>
            <a:ext cx="219456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50976" y="2788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1FC0EF"/>
                </a:solidFill>
                <a:latin typeface="Consolas"/>
              </a:rPr>
              <a:t>A PROPOSTA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81527"/>
            <a:ext cx="628192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Desde 1º/9/2025, a Resolução CMN 5.237 permite às financeiras (SCFI) administrar carteiras de valores mobiliários (art. 6º, p.u., IV) — uma linha de receita nova que o mercado ainda não explorou. Vocês entram com a instituição; a Argus entra com a tecnologia e a operação como prestadora de serviço. Receita dividida 50/50, sem investir em tecnologia nem contratar equipe.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4142232"/>
            <a:ext cx="219456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50976" y="406908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1FC0EF"/>
                </a:solidFill>
                <a:latin typeface="Consolas"/>
              </a:rPr>
              <a:t>POR QUE FAZ SENTIDO PARA A SUA FINANCEIRA</a:t>
            </a:r>
          </a:p>
        </p:txBody>
      </p:sp>
      <p:sp>
        <p:nvSpPr>
          <p:cNvPr id="13" name="Oval 12"/>
          <p:cNvSpPr/>
          <p:nvPr/>
        </p:nvSpPr>
        <p:spPr>
          <a:xfrm>
            <a:off x="649224" y="4443984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398264"/>
            <a:ext cx="608075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Ser a PRIMEIRA financeira da sua praça a monetizar a Res. 5.237 — vantagem de pioneiro real.</a:t>
            </a:r>
          </a:p>
        </p:txBody>
      </p:sp>
      <p:sp>
        <p:nvSpPr>
          <p:cNvPr id="15" name="Oval 14"/>
          <p:cNvSpPr/>
          <p:nvPr/>
        </p:nvSpPr>
        <p:spPr>
          <a:xfrm>
            <a:off x="649224" y="4919472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4873752"/>
            <a:ext cx="608075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Diversificação recorrente (% do PL) descorrelacionada do ciclo de crédito.</a:t>
            </a:r>
          </a:p>
        </p:txBody>
      </p:sp>
      <p:sp>
        <p:nvSpPr>
          <p:cNvPr id="17" name="Oval 16"/>
          <p:cNvSpPr/>
          <p:nvPr/>
        </p:nvSpPr>
        <p:spPr>
          <a:xfrm>
            <a:off x="649224" y="5394960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349240"/>
            <a:ext cx="608075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Custódia dos fundos terceirizada com custodiante autorizado — nós estruturamos, vocês não montam nada.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" y="5870448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24728"/>
            <a:ext cx="608075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Por ser instituição BCB, vocês podem contratar assessores de investimento para distribuir — canal de captação pronto.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6464808"/>
            <a:ext cx="6281927" cy="841248"/>
          </a:xfrm>
          <a:prstGeom prst="roundRect">
            <a:avLst>
              <a:gd name="adj" fmla="val 5000"/>
            </a:avLst>
          </a:prstGeom>
          <a:solidFill>
            <a:srgbClr val="F4F5FB"/>
          </a:solidFill>
          <a:ln w="9525">
            <a:solidFill>
              <a:srgbClr val="E7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661111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20">
                <a:solidFill>
                  <a:srgbClr val="6A50AC"/>
                </a:solidFill>
                <a:latin typeface="Consolas"/>
              </a:rPr>
              <a:t>SEU PONTO DE PARTIDA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6830568"/>
            <a:ext cx="57698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O objeto já comporta (Res. 5.237); falta o registro de administrador fiduciário na CVM — ~60 dias, com o dossiê que entregamos pronto para protocolar.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0080" y="7589520"/>
            <a:ext cx="219456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50976" y="751636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1FC0EF"/>
                </a:solidFill>
                <a:latin typeface="Consolas"/>
              </a:rPr>
              <a:t>A PROVA — NÃO É IDEIA EM GUARDANAPO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7827264"/>
            <a:ext cx="62819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Protótipo operacional de ponta a ponta no ar (argusdtvm.com.br, dados simulados) — do checklist de abertura ao informe diário à CVM. Dossiês de credenciamento prontos para protocolar: administração fiduciária (prazo legal de 60 dias) e custódia (90 dias), com manuais e matrizes de conformidade.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8723376"/>
            <a:ext cx="6281927" cy="868680"/>
          </a:xfrm>
          <a:prstGeom prst="roundRect">
            <a:avLst>
              <a:gd name="adj" fmla="val 5000"/>
            </a:avLst>
          </a:prstGeom>
          <a:solidFill>
            <a:srgbClr val="6A50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88696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3F6FA"/>
                </a:solidFill>
                <a:latin typeface="Georgia"/>
              </a:rPr>
              <a:t>0,08% a.a. + R$ 100/mês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923544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A8B6C6"/>
                </a:solidFill>
                <a:latin typeface="Calibri"/>
              </a:rPr>
              <a:t>4–5× mais barato — competitivo a partir de R$ 2 milhões de PL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3127" y="886968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CFEEFB"/>
                </a:solidFill>
                <a:latin typeface="Consolas"/>
              </a:rPr>
              <a:t>Só 1.277 dos ~31 mil</a:t>
            </a:r>
          </a:p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CFEEFB"/>
                </a:solidFill>
                <a:latin typeface="Consolas"/>
              </a:rPr>
              <a:t>fundos passam de R$ 1 bi.</a:t>
            </a:r>
          </a:p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CFEEFB"/>
                </a:solidFill>
                <a:latin typeface="Consolas"/>
              </a:rPr>
              <a:t>A cauda pequena é enorme.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9729216"/>
            <a:ext cx="6281927" cy="402336"/>
          </a:xfrm>
          <a:prstGeom prst="roundRect">
            <a:avLst>
              <a:gd name="adj" fmla="val 12000"/>
            </a:avLst>
          </a:prstGeom>
          <a:solidFill>
            <a:srgbClr val="F4F5FB"/>
          </a:solidFill>
          <a:ln w="12700">
            <a:solidFill>
              <a:srgbClr val="1FC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9838944"/>
            <a:ext cx="57698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6A50AC"/>
                </a:solidFill>
                <a:latin typeface="Consolas"/>
              </a:rPr>
              <a:t>PRÓXIMO PASSO   </a:t>
            </a:r>
            <a:r>
              <a:rPr sz="1050" b="0" i="0">
                <a:solidFill>
                  <a:srgbClr val="2B3232"/>
                </a:solidFill>
                <a:latin typeface="Calibri"/>
              </a:rPr>
              <a:t>20 minutos, sem compromisso — basta responder o e-mail.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40080" y="10122408"/>
            <a:ext cx="6281927" cy="0"/>
          </a:xfrm>
          <a:prstGeom prst="line">
            <a:avLst/>
          </a:prstGeom>
          <a:ln w="9525">
            <a:solidFill>
              <a:srgbClr val="E7E8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40080" y="10232136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6A50AC"/>
                </a:solidFill>
                <a:latin typeface="Consolas"/>
              </a:rPr>
              <a:t>contato@argusdtvm.com.br  ·  argusdtvm.com.br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70248" y="10232136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0">
                <a:solidFill>
                  <a:srgbClr val="909DAC"/>
                </a:solidFill>
                <a:latin typeface="Consolas"/>
              </a:rPr>
              <a:t>CONFIDENCIAL · DADOS SIMULADOS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