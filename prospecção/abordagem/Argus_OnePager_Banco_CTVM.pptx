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514600"/>
          </a:xfrm>
          <a:prstGeom prst="rect">
            <a:avLst/>
          </a:prstGeom>
          <a:solidFill>
            <a:srgbClr val="17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66751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7007" y="658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6FA"/>
                </a:solidFill>
                <a:latin typeface="Georgia"/>
              </a:rPr>
              <a:t>Uma nova linha de receita recorrente
para o seu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6281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C0EF"/>
                </a:solidFill>
                <a:latin typeface="Calibri"/>
              </a:rPr>
              <a:t>Administração fiduciária e custódia de fundos — proposta de parceria.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86207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0976" y="2788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7"/>
            <a:ext cx="628192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Você entra com a licença e a estrutura que já tem; a Argus entra com a tecnologia e a operação como prestadora de serviço — você continua o administrador de verdade. Juntos, administramos fundos pequenos, um mercado que os grandes ignoram. A receita de administração começa dividida 50/50 — metade para você — e você não investe em tecnologia nem monta equipe.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414223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50976" y="4069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POR QUE FAZ SENTIDO PARA UM BANCO / CORRETORA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44439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398264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Receita nova sobre uma estrutura que já existe e já custa.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" y="491947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873752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Custo de entrada ~zero: sem investir em tecnologia nem contratar equipe.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539496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49240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Dispensa de capital mínimo — por já ser instituição autorizada pelo BCB.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" y="5870448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824728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Risco reduzido, não aumentado: operação documentada, monitoramento em 100% dos fundos, o seu compliance no controle.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464808"/>
            <a:ext cx="6281927" cy="84124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66111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6A50AC"/>
                </a:solidFill>
                <a:latin typeface="Consolas"/>
              </a:rPr>
              <a:t>SEU PONTO DE PARTIDA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6830568"/>
            <a:ext cx="57698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Você já é elegível. Falta só o credenciamento de administrador fiduciário na CVM — prazo legal de 60 dias, com os documentos que entregamos prontos.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7589520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0976" y="75163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PROVA — NÃO É IDEIA EM GUARDANAPO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7827264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Protótipo operacional funcionando de ponta a ponta (argusdtvm.com.br, dados simulados), do checklist de abertura ao informe diário à CVM. Mapa regulatório levantado e dossiês prontos para protocolar.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8723376"/>
            <a:ext cx="6281927" cy="86868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869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0,08% a.a. + R$ 100/mês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235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6C6"/>
                </a:solidFill>
                <a:latin typeface="Calibri"/>
              </a:rPr>
              <a:t>4–5× mais barato — competitivo a partir de R$ 2 milhões de PL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7" y="8869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Só 1.277 dos ~31 mil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fundos passam de R$ 1 bi.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A cauda pequena é enorme.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10030967"/>
            <a:ext cx="6281927" cy="0"/>
          </a:xfrm>
          <a:prstGeom prst="line">
            <a:avLst/>
          </a:prstGeom>
          <a:ln w="9525">
            <a:solidFill>
              <a:srgbClr val="E7E8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1014069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A50AC"/>
                </a:solidFill>
                <a:latin typeface="Consolas"/>
              </a:rPr>
              <a:t>contato@argusdtvm.com.br  ·  argusdtvm.com.br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1014069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0">
                <a:solidFill>
                  <a:srgbClr val="909DAC"/>
                </a:solidFill>
                <a:latin typeface="Consolas"/>
              </a:rPr>
              <a:t>CONFIDENCIAL · DADOS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