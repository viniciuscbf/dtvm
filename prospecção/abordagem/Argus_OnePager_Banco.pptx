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514600"/>
          </a:xfrm>
          <a:prstGeom prst="rect">
            <a:avLst/>
          </a:prstGeom>
          <a:solidFill>
            <a:srgbClr val="17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66751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7007" y="658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6FA"/>
                </a:solidFill>
                <a:latin typeface="Georgia"/>
              </a:rPr>
              <a:t>Uma nova linha de receita recorrente
para o seu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6281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C0EF"/>
                </a:solidFill>
                <a:latin typeface="Calibri"/>
              </a:rPr>
              <a:t>Administração fiduciária e custódia de fundos — proposta de parceria.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86207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0976" y="2788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7"/>
            <a:ext cx="628192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Vocês entram com a licença e a estrutura que já têm; a Argus entra com a tecnologia e a operação como prestadora de serviço — vocês continuam o administrador de verdade, com o compliance de vocês no controle. Atendemos juntos um mercado que os grandes decidiram ignorar: fundos de R$ 1–10 milhões. A receita de administração começa dividida 50/50 — e vocês não investem em tecnologia nem contratam equipe.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414223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50976" y="4069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POR QUE FAZ SENTIDO PARA O SEU BANCO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44439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398264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Receita nova sobre uma estrutura que já existe e já custa — a licença já pagou a barreira de capital.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" y="491947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873752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Custo de entrada ~zero: sem investir em tecnologia nem contratar equipe.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539496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49240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Custódia própria opcional na fase 2 — mais uma linha de receita sobre a mesma máquina.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" y="5870448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824728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Risco reduzido, não aumentado: operação documentada, monitoramento diário em 100% dos fundos, trilha de auditoria completa.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464808"/>
            <a:ext cx="6281927" cy="84124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66111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6A50AC"/>
                </a:solidFill>
                <a:latin typeface="Consolas"/>
              </a:rPr>
              <a:t>SEU PONTO DE PARTIDA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6830568"/>
            <a:ext cx="57698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Vocês já são elegíveis (Res. CVM 21). Falta só o credenciamento de administrador fiduciário — prazo legal de 60 dias, com o dossiê que entregamos pronto para protocolar.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7589520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0976" y="75163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PROVA — NÃO É IDEIA EM GUARDANAPO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7827264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Protótipo operacional de ponta a ponta no ar (argusdtvm.com.br, dados simulados) — do checklist de abertura ao informe diário à CVM. Dossiês de credenciamento prontos para protocolar: administração fiduciária (prazo legal de 60 dias) e custódia (90 dias), com manuais e matrizes de conformidade.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8723376"/>
            <a:ext cx="6281927" cy="86868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869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0,08% a.a. + R$ 100/mês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235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6C6"/>
                </a:solidFill>
                <a:latin typeface="Calibri"/>
              </a:rPr>
              <a:t>4–5× mais barato — competitivo a partir de R$ 2 milhões de PL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7" y="8869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Só 1.277 dos ~31 mil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fundos passam de R$ 1 bi.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A cauda pequena é enorme.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9729216"/>
            <a:ext cx="6281927" cy="402336"/>
          </a:xfrm>
          <a:prstGeom prst="roundRect">
            <a:avLst>
              <a:gd name="adj" fmla="val 12000"/>
            </a:avLst>
          </a:prstGeom>
          <a:solidFill>
            <a:srgbClr val="F4F5FB"/>
          </a:solidFill>
          <a:ln w="12700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9838944"/>
            <a:ext cx="5769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6A50AC"/>
                </a:solidFill>
                <a:latin typeface="Consolas"/>
              </a:rPr>
              <a:t>PRÓXIMO PASSO   </a:t>
            </a:r>
            <a:r>
              <a:rPr sz="1050" b="0" i="0">
                <a:solidFill>
                  <a:srgbClr val="2B3232"/>
                </a:solidFill>
                <a:latin typeface="Calibri"/>
              </a:rPr>
              <a:t>20 minutos, sem compromisso — basta responder o e-mail.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10122408"/>
            <a:ext cx="6281927" cy="0"/>
          </a:xfrm>
          <a:prstGeom prst="line">
            <a:avLst/>
          </a:prstGeom>
          <a:ln w="9525">
            <a:solidFill>
              <a:srgbClr val="E7E8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102321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A50AC"/>
                </a:solidFill>
                <a:latin typeface="Consolas"/>
              </a:rPr>
              <a:t>contato@argusdtvm.com.br  ·  argusdtvm.com.br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1023213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0">
                <a:solidFill>
                  <a:srgbClr val="909DAC"/>
                </a:solidFill>
                <a:latin typeface="Consolas"/>
              </a:rPr>
              <a:t>CONFIDENCIAL · DADOS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