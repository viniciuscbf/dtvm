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2514600"/>
          </a:xfrm>
          <a:prstGeom prst="rect">
            <a:avLst/>
          </a:prstGeom>
          <a:solidFill>
            <a:srgbClr val="171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argus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1864852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12252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0">
                <a:solidFill>
                  <a:srgbClr val="A8B6C6"/>
                </a:solidFill>
                <a:latin typeface="Consolas"/>
              </a:rPr>
              <a:t>ADMINISTRAÇÃO FIDUCIÁRIA E CUSTÓDIA DE FUNDOS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36192"/>
            <a:ext cx="62819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3F6FA"/>
                </a:solidFill>
                <a:latin typeface="Georgia"/>
              </a:rPr>
              <a:t>Uma nova linha de receita recorrente
para o seu banco.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12848"/>
            <a:ext cx="6281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1FC0EF"/>
                </a:solidFill>
                <a:latin typeface="Calibri"/>
              </a:rPr>
              <a:t>Administração fiduciária e custódia de fundos — proposta de parceria.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2862072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50976" y="2788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A PROPOSTA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1527"/>
            <a:ext cx="628192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Vocês entram com a licença e a estrutura que já têm; a Argus entra com a tecnologia e a operação como prestadora de serviço — vocês continuam o administrador de verdade, com o compliance de vocês no controle. Atendemos juntos um mercado que os grandes decidiram ignorar: fundos de R$ 1–10 milhões. A receita de administração começa dividida 50/50 — e vocês não investem em tecnologia nem contratam equipe.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4142232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50976" y="40690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POR QUE FAZ SENTIDO PARA O SEU BANCO</a:t>
            </a:r>
          </a:p>
        </p:txBody>
      </p:sp>
      <p:sp>
        <p:nvSpPr>
          <p:cNvPr id="12" name="Oval 11"/>
          <p:cNvSpPr/>
          <p:nvPr/>
        </p:nvSpPr>
        <p:spPr>
          <a:xfrm>
            <a:off x="649224" y="4443984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4398264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Receita nova sobre uma estrutura que já existe e já custa — a licença já pagou a barreira de capital.</a:t>
            </a:r>
          </a:p>
        </p:txBody>
      </p:sp>
      <p:sp>
        <p:nvSpPr>
          <p:cNvPr id="14" name="Oval 13"/>
          <p:cNvSpPr/>
          <p:nvPr/>
        </p:nvSpPr>
        <p:spPr>
          <a:xfrm>
            <a:off x="649224" y="4919472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7" y="4873752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Custo de entrada ~zero: sem investir em tecnologia nem contratar equipe.</a:t>
            </a:r>
          </a:p>
        </p:txBody>
      </p:sp>
      <p:sp>
        <p:nvSpPr>
          <p:cNvPr id="16" name="Oval 15"/>
          <p:cNvSpPr/>
          <p:nvPr/>
        </p:nvSpPr>
        <p:spPr>
          <a:xfrm>
            <a:off x="649224" y="5394960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5349240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Custódia própria opcional na fase 2 — mais uma linha de receita sobre a mesma máquina.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" y="5870448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5824728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Risco reduzido, não aumentado: operação documentada, monitoramento diário em 100% dos fundos, trilha de auditoria completa.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6464808"/>
            <a:ext cx="6281927" cy="841248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E7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661111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20">
                <a:solidFill>
                  <a:srgbClr val="6A50AC"/>
                </a:solidFill>
                <a:latin typeface="Consolas"/>
              </a:rPr>
              <a:t>SEU PONTO DE PARTIDA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6830568"/>
            <a:ext cx="57698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Vocês já são elegíveis (Res. CVM 21). Falta só o credenciamento de administrador fiduciário — prazo legal de 60 dias, com o dossiê que entregamos pronto para protocolar.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0080" y="7589520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50976" y="751636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A PROVA — NÃO É IDEIA EM GUARDANAPO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7827264"/>
            <a:ext cx="62819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Protótipo operacional de ponta a ponta no ar (argusdtvm.com.br, dados simulados) — do checklist de abertura ao informe diário à CVM. Dossiês de credenciamento prontos para protocolar: administração fiduciária (prazo legal de 60 dias) e custódia (90 dias), com manuais e matrizes de conformidade.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8723376"/>
            <a:ext cx="6281927" cy="86868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88696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F6FA"/>
                </a:solidFill>
                <a:latin typeface="Georgia"/>
              </a:rPr>
              <a:t>0,08% a.a. + R$ 100/mês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92354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8B6C6"/>
                </a:solidFill>
                <a:latin typeface="Calibri"/>
              </a:rPr>
              <a:t>4–5× mais barato — competitivo a partir de R$ 2 milhões de 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7" y="88696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Só 1.277 dos ~31 mil</a:t>
            </a:r>
          </a:p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fundos passam de R$ 1 bi.</a:t>
            </a:r>
          </a:p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A cauda pequena é enorme.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9656064"/>
            <a:ext cx="6281927" cy="512064"/>
          </a:xfrm>
          <a:prstGeom prst="roundRect">
            <a:avLst>
              <a:gd name="adj" fmla="val 12000"/>
            </a:avLst>
          </a:prstGeom>
          <a:solidFill>
            <a:srgbClr val="F4F5FB"/>
          </a:solidFill>
          <a:ln w="12700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9756648"/>
            <a:ext cx="576986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B3232"/>
                </a:solidFill>
                <a:latin typeface="Georgia"/>
              </a:rPr>
              <a:t>Queremos apresentar a conta exata para o seu banco — 20 minutos com quem construiu a plataforma. É só responder o e-mail que trouxe esta página.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0080" y="10232136"/>
            <a:ext cx="6281927" cy="0"/>
          </a:xfrm>
          <a:prstGeom prst="line">
            <a:avLst/>
          </a:prstGeom>
          <a:ln w="9525">
            <a:solidFill>
              <a:srgbClr val="E7E8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40080" y="10341863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6A50AC"/>
                </a:solidFill>
                <a:latin typeface="Consolas"/>
              </a:rPr>
              <a:t>contato@argusdtvm.com.br  ·  argusdtvm.com.br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70248" y="10341863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0">
                <a:solidFill>
                  <a:srgbClr val="909DAC"/>
                </a:solidFill>
                <a:latin typeface="Consolas"/>
              </a:rPr>
              <a:t>CONFIDENCIAL · DADOS SIMULADOS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