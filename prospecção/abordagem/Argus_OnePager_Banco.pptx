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212848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argus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1624226" cy="493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960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6281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3F6FA"/>
                </a:solidFill>
                <a:latin typeface="Georgia"/>
              </a:rPr>
              <a:t>Fundos viáveis a partir de R$ 1 milhão —
e o papel do seu banco nisso.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28192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FC0EF"/>
                </a:solidFill>
                <a:latin typeface="Calibri"/>
              </a:rPr>
              <a:t>Onde nasce o custo que mata o fundo pequeno, como ele desaparece, e o que propomos ao banco.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432304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50976" y="2359152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IDEIA, DIRETO AO PONTO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5184"/>
            <a:ext cx="6281927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2B3232"/>
                </a:solidFill>
                <a:latin typeface="Calibri"/>
              </a:rPr>
              <a:t>Estamos estruturando uma operação de DTVM para o vazio que os grandes administradores criaram: fundos de investimento de menor patrimônio. Com tecnologia própria, constituímos e administramos fundos de forma rápida e barata — com o objetivo declarado de operar a taxa de administração fiduciária MAIS COMPETITIVA do mercado brasileiro, sem abrir mão de nenhum controle fiduciário. Só 1.277 dos ~31 mil fundos do país passam de R$ 1 bilhão: a cauda é enorme e está sem dono.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419856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3346704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FUNDO PEQUENO HOJE É INVIÁVEL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02736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2B3232"/>
                </a:solidFill>
                <a:latin typeface="Calibri"/>
              </a:rPr>
              <a:t>Hoje, constituir um fundo só fecha a conta a partir de ~R$ 20 milhões de patrimônio: os pisos das administradoras tradicionais (R$ 12–25 mil/mês somando administração, custódia e controladoria) impõem R$ 150–300 mil de custo fixo por ano. Num fundo de R$ 5 milhões, isso consome 3–6% do patrimônio ao ano antes de qualquer resultado — inviável por definição. O gestor emergente fica preso a clube de investimento ou carteira administrada. O nosso barateamento é grande o suficiente para inverter essa conta: fundo viável a partir de R$ 1 milhão de PL.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17136"/>
            <a:ext cx="1996439" cy="621792"/>
          </a:xfrm>
          <a:prstGeom prst="roundRect">
            <a:avLst>
              <a:gd name="adj" fmla="val 9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590288"/>
            <a:ext cx="1740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7123A"/>
                </a:solidFill>
                <a:latin typeface="Georgia"/>
              </a:rPr>
              <a:t>R$ 150–300 mil/ano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882896"/>
            <a:ext cx="1740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B6B7F"/>
                </a:solidFill>
                <a:latin typeface="Calibri"/>
              </a:rPr>
              <a:t>custo fixo típico do fundo hoje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2823" y="4517136"/>
            <a:ext cx="1996439" cy="621792"/>
          </a:xfrm>
          <a:prstGeom prst="roundRect">
            <a:avLst>
              <a:gd name="adj" fmla="val 9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10840" y="4590288"/>
            <a:ext cx="1740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7123A"/>
                </a:solidFill>
                <a:latin typeface="Georgia"/>
              </a:rPr>
              <a:t>≈ R$ 20 milhões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0840" y="4882896"/>
            <a:ext cx="1740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B6B7F"/>
                </a:solidFill>
                <a:latin typeface="Calibri"/>
              </a:rPr>
              <a:t>PL mínimo p/ fechar a conta hoje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25568" y="4517136"/>
            <a:ext cx="1996439" cy="621792"/>
          </a:xfrm>
          <a:prstGeom prst="roundRect">
            <a:avLst>
              <a:gd name="adj" fmla="val 9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584" y="4590288"/>
            <a:ext cx="1740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7123A"/>
                </a:solidFill>
                <a:latin typeface="Georgia"/>
              </a:rPr>
              <a:t>R$ 1 milhão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3584" y="4882896"/>
            <a:ext cx="1740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B6B7F"/>
                </a:solidFill>
                <a:latin typeface="Calibri"/>
              </a:rPr>
              <a:t>PL viável na estrutura Argus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5431536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50976" y="5358384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DE ONDE VEM O BARATEAMENTO — TRÊS ALAVANCAS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" y="567842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5632704"/>
            <a:ext cx="6099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7123A"/>
                </a:solidFill>
                <a:latin typeface="Calibri"/>
              </a:rPr>
              <a:t>Custódia dentro de casa — o banco como agente custodiante.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5815584"/>
            <a:ext cx="6099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3232"/>
                </a:solidFill>
                <a:latin typeface="Calibri"/>
              </a:rPr>
              <a:t>Em vez de pagar custódia de terceiro — que sozinha já carrega piso de mercado —, a parceria credencia a custódia no próprio banco (Res. CVM 32): o custo sai da conta do fundo e vira receita interna da instituição. É a verticalização que os grandes praticam, aplicada pela primeira vez ao fundo pequeno.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" y="6391656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6345936"/>
            <a:ext cx="6099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7123A"/>
                </a:solidFill>
                <a:latin typeface="Calibri"/>
              </a:rPr>
              <a:t>Operação automatizada com IA — custo marginal por fundo perto de zero.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6528816"/>
            <a:ext cx="6099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3232"/>
                </a:solidFill>
                <a:latin typeface="Calibri"/>
              </a:rPr>
              <a:t>Cota diária, conciliação, enquadramento, tributação, reporte CVM/ANBIMA e a geração dos documentos de constituição rodam automatizados; a IA assume a conferência e as exceções que hoje ocupam equipes inteiras. Administrar o fundo nº 100 custa quase o mesmo que o nº 10.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" y="710488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7059168"/>
            <a:ext cx="6099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7123A"/>
                </a:solidFill>
                <a:latin typeface="Calibri"/>
              </a:rPr>
              <a:t>Verificação antilavagem com IA — vigilância diária de 100% dos fundos.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7242048"/>
            <a:ext cx="6099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3232"/>
                </a:solidFill>
                <a:latin typeface="Calibri"/>
              </a:rPr>
              <a:t>O motor roda regras de preço fora de mercado, partes relacionadas, lastro em custódia e movimentação atípica todos os dias, com evidência e trilha. O compliance que nas casas tradicionais é custo fixo de gente vira software — mais barato e MAIS rigoroso que o padrão de mercado.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7772400"/>
            <a:ext cx="6281927" cy="786384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7891272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3F6FA"/>
                </a:solidFill>
                <a:latin typeface="Georgia"/>
              </a:rPr>
              <a:t>0,08% a.a. · piso R$ 100/mês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8257031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A8B6C6"/>
                </a:solidFill>
                <a:latin typeface="Calibri"/>
              </a:rPr>
              <a:t>A taxa mais competitiva do mercado — 10–40× abaixo dos pisos praticados.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790956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 spc="20">
                <a:solidFill>
                  <a:srgbClr val="CFEEFB"/>
                </a:solidFill>
                <a:latin typeface="Consolas"/>
              </a:rPr>
              <a:t>fundo de R$ 1 milhão:</a:t>
            </a:r>
          </a:p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 spc="20">
                <a:solidFill>
                  <a:srgbClr val="CFEEFB"/>
                </a:solidFill>
                <a:latin typeface="Consolas"/>
              </a:rPr>
              <a:t>≈ R$ 1.200/ano — contra</a:t>
            </a:r>
          </a:p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 spc="20">
                <a:solidFill>
                  <a:srgbClr val="CFEEFB"/>
                </a:solidFill>
                <a:latin typeface="Consolas"/>
              </a:rPr>
              <a:t>R$ 150–300 mil hoje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0080" y="875995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50976" y="8686800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O QUE PROPOMOS AO SEU 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8933688"/>
            <a:ext cx="6281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B3232"/>
                </a:solidFill>
                <a:latin typeface="Calibri"/>
              </a:rPr>
              <a:t>Administração fiduciária e custódia são privativas de instituição autorizada pelo BCB — e é aí que entra o banco: licença, estrutura jurídica e o compliance que já exerce. Nós entramos com tecnologia, equipe, operação e todos os custos (não buscamos investimento); a contrapartida é participação nos lucros, sem o banco absorver despesa. Caminho: carta de intenções → credenciamento na CVM (dossiê pronto, prazo legal de 60 dias) → produção sob a marca do banco → custódia própria (Res. 32). Piloto no ar: argusdtvm.com.br/piloto — o tour anexo percorre cada tela.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9729216"/>
            <a:ext cx="6281927" cy="402336"/>
          </a:xfrm>
          <a:prstGeom prst="roundRect">
            <a:avLst>
              <a:gd name="adj" fmla="val 14000"/>
            </a:avLst>
          </a:prstGeom>
          <a:solidFill>
            <a:srgbClr val="F4F5FB"/>
          </a:solidFill>
          <a:ln w="12700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98023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1">
                <a:solidFill>
                  <a:srgbClr val="2B3232"/>
                </a:solidFill>
                <a:latin typeface="Georgia"/>
              </a:rPr>
              <a:t>Queremos abrir essa conta com os números do seu banco — 20 minutos com quem construiu a plataforma. É só responder o e-mail.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0080" y="10268711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" y="10369296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vinicius.fernandes@argusdtvm.com.br  ·  argusdtvm.com.br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1036929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