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2212848"/>
          </a:xfrm>
          <a:prstGeom prst="rect">
            <a:avLst/>
          </a:prstGeom>
          <a:solidFill>
            <a:srgbClr val="171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argus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1624226" cy="493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960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50">
                <a:solidFill>
                  <a:srgbClr val="A8B6C6"/>
                </a:solidFill>
                <a:latin typeface="Consolas"/>
              </a:rPr>
              <a:t>ADMINISTRAÇÃO FIDUCIÁRIA E CUSTÓDIA DE FUNDOS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43584"/>
            <a:ext cx="6281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3F6FA"/>
                </a:solidFill>
                <a:latin typeface="Georgia"/>
              </a:rPr>
              <a:t>Fundos viáveis a partir de R$ 1 milhão —
e o papel da sua corretora nisso.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2819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1FC0EF"/>
                </a:solidFill>
                <a:latin typeface="Calibri"/>
              </a:rPr>
              <a:t>Onde nasce o custo que mata o fundo pequeno, como ele desaparece, e o que propomos à corretora.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432304"/>
            <a:ext cx="219456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50976" y="2359152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1FC0EF"/>
                </a:solidFill>
                <a:latin typeface="Consolas"/>
              </a:rPr>
              <a:t>A IDEIA, DIRETO AO PONTO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15184"/>
            <a:ext cx="6281927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B3232"/>
                </a:solidFill>
                <a:latin typeface="Calibri"/>
              </a:rPr>
              <a:t>Estamos estruturando uma operação de DTVM para o vazio que os grandes administradores criaram: fundos de investimento de menor patrimônio. Com tecnologia própria, constituímos e administramos fundos de forma rápida e barata — com o objetivo declarado de operar a taxa de administração fiduciária MAIS COMPETITIVA do mercado brasileiro, sem abrir mão de nenhum controle fiduciário. Só 1.277 dos ~31 mil fundos do país passam de R$ 1 bilhão: a cauda é enorme e está sem dono.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419856"/>
            <a:ext cx="219456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50976" y="3346704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1FC0EF"/>
                </a:solidFill>
                <a:latin typeface="Consolas"/>
              </a:rPr>
              <a:t>POR QUE FUNDO PEQUENO HOJE É INVIÁVEL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02736"/>
            <a:ext cx="62819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B3232"/>
                </a:solidFill>
                <a:latin typeface="Calibri"/>
              </a:rPr>
              <a:t>Hoje, constituir um fundo só fecha a conta a partir de ~R$ 20 milhões de patrimônio: os pisos das administradoras tradicionais (R$ 12–25 mil/mês somando administração, custódia e controladoria) impõem R$ 150–300 mil de custo fixo por ano. Num fundo de R$ 5 milhões, isso consome 3–6% do patrimônio ao ano antes de qualquer resultado — inviável por definição. O gestor emergente fica preso a clube de investimento ou carteira administrada. O nosso barateamento é grande o suficiente para inverter essa conta: fundo viável a partir de R$ 1 milhão de PL.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17136"/>
            <a:ext cx="1996439" cy="621792"/>
          </a:xfrm>
          <a:prstGeom prst="roundRect">
            <a:avLst>
              <a:gd name="adj" fmla="val 9000"/>
            </a:avLst>
          </a:prstGeom>
          <a:solidFill>
            <a:srgbClr val="F4F5FB"/>
          </a:solidFill>
          <a:ln w="9525">
            <a:solidFill>
              <a:srgbClr val="E7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590288"/>
            <a:ext cx="1740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123A"/>
                </a:solidFill>
                <a:latin typeface="Georgia"/>
              </a:rPr>
              <a:t>R$ 150–300 mil/ano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882896"/>
            <a:ext cx="17404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5B6B7F"/>
                </a:solidFill>
                <a:latin typeface="Calibri"/>
              </a:rPr>
              <a:t>custo fixo típico do fundo hoje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2823" y="4517136"/>
            <a:ext cx="1996439" cy="621792"/>
          </a:xfrm>
          <a:prstGeom prst="roundRect">
            <a:avLst>
              <a:gd name="adj" fmla="val 9000"/>
            </a:avLst>
          </a:prstGeom>
          <a:solidFill>
            <a:srgbClr val="F4F5FB"/>
          </a:solidFill>
          <a:ln w="9525">
            <a:solidFill>
              <a:srgbClr val="E7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10840" y="4590288"/>
            <a:ext cx="1740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123A"/>
                </a:solidFill>
                <a:latin typeface="Georgia"/>
              </a:rPr>
              <a:t>≈ R$ 20 milhões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0840" y="4882896"/>
            <a:ext cx="17404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5B6B7F"/>
                </a:solidFill>
                <a:latin typeface="Calibri"/>
              </a:rPr>
              <a:t>PL mínimo p/ fechar a conta hoje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25568" y="4517136"/>
            <a:ext cx="1996439" cy="621792"/>
          </a:xfrm>
          <a:prstGeom prst="roundRect">
            <a:avLst>
              <a:gd name="adj" fmla="val 9000"/>
            </a:avLst>
          </a:prstGeom>
          <a:solidFill>
            <a:srgbClr val="F4F5FB"/>
          </a:solidFill>
          <a:ln w="9525">
            <a:solidFill>
              <a:srgbClr val="E7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3584" y="4590288"/>
            <a:ext cx="1740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123A"/>
                </a:solidFill>
                <a:latin typeface="Georgia"/>
              </a:rPr>
              <a:t>R$ 1 milhão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3584" y="4882896"/>
            <a:ext cx="17404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5B6B7F"/>
                </a:solidFill>
                <a:latin typeface="Calibri"/>
              </a:rPr>
              <a:t>PL viável na estrutura Argus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5431536"/>
            <a:ext cx="219456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50976" y="5358384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1FC0EF"/>
                </a:solidFill>
                <a:latin typeface="Consolas"/>
              </a:rPr>
              <a:t>DE ONDE VEM O BARATEAMENTO — TRÊS ALAVANCAS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" y="5678424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632704"/>
            <a:ext cx="60990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17123A"/>
                </a:solidFill>
                <a:latin typeface="Calibri"/>
              </a:rPr>
              <a:t>Custódia dentro de casa — a corretora como agente custodiante.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815584"/>
            <a:ext cx="60990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232"/>
                </a:solidFill>
                <a:latin typeface="Calibri"/>
              </a:rPr>
              <a:t>Em vez de pagar custódia de terceiro — que sozinha já carrega piso de mercado —, a parceria credencia a custódia na própria corretora (a CTVM é elegível às duas licenças, Res. CVM 21 e 32): o custo sai da conta do fundo e vira receita interna. Verticalização dos grandes, aplicada ao fundo pequeno — e a corretagem dos fundos da casa fica em casa também.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" y="6391656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6345936"/>
            <a:ext cx="60990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17123A"/>
                </a:solidFill>
                <a:latin typeface="Calibri"/>
              </a:rPr>
              <a:t>Operação automatizada com IA — custo marginal por fundo perto de zero.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6528816"/>
            <a:ext cx="60990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232"/>
                </a:solidFill>
                <a:latin typeface="Calibri"/>
              </a:rPr>
              <a:t>Cota diária, conciliação, enquadramento, tributação, reporte CVM/ANBIMA e a geração dos documentos de constituição rodam automatizados; a IA assume a conferência e as exceções que hoje ocupam equipes inteiras. Administrar o fundo nº 100 custa quase o mesmo que o nº 10.</a:t>
            </a:r>
          </a:p>
        </p:txBody>
      </p:sp>
      <p:sp>
        <p:nvSpPr>
          <p:cNvPr id="30" name="Oval 29"/>
          <p:cNvSpPr/>
          <p:nvPr/>
        </p:nvSpPr>
        <p:spPr>
          <a:xfrm>
            <a:off x="649224" y="7104888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7059168"/>
            <a:ext cx="60990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17123A"/>
                </a:solidFill>
                <a:latin typeface="Calibri"/>
              </a:rPr>
              <a:t>Verificação antilavagem com IA — vigilância diária de 100% dos fundos.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7242048"/>
            <a:ext cx="60990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232"/>
                </a:solidFill>
                <a:latin typeface="Calibri"/>
              </a:rPr>
              <a:t>O motor roda regras de preço fora de mercado, partes relacionadas, lastro em custódia e movimentação atípica todos os dias, com evidência e trilha. O compliance que nas casas tradicionais é custo fixo de gente vira software — mais barato e MAIS rigoroso que o padrão de mercado.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7772400"/>
            <a:ext cx="6281927" cy="786384"/>
          </a:xfrm>
          <a:prstGeom prst="roundRect">
            <a:avLst>
              <a:gd name="adj" fmla="val 5000"/>
            </a:avLst>
          </a:prstGeom>
          <a:solidFill>
            <a:srgbClr val="6A5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7891272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3F6FA"/>
                </a:solidFill>
                <a:latin typeface="Georgia"/>
              </a:rPr>
              <a:t>0,08% a.a. · piso R$ 100/mês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8257031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A8B6C6"/>
                </a:solidFill>
                <a:latin typeface="Calibri"/>
              </a:rPr>
              <a:t>A taxa mais competitiva do mercado — 10–40× abaixo dos pisos praticados.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7" y="790956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 spc="20">
                <a:solidFill>
                  <a:srgbClr val="CFEEFB"/>
                </a:solidFill>
                <a:latin typeface="Consolas"/>
              </a:rPr>
              <a:t>fundo de R$ 1 milhão:</a:t>
            </a:r>
          </a:p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 spc="20">
                <a:solidFill>
                  <a:srgbClr val="CFEEFB"/>
                </a:solidFill>
                <a:latin typeface="Consolas"/>
              </a:rPr>
              <a:t>≈ R$ 1.200/ano — contra</a:t>
            </a:r>
          </a:p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 spc="20">
                <a:solidFill>
                  <a:srgbClr val="CFEEFB"/>
                </a:solidFill>
                <a:latin typeface="Consolas"/>
              </a:rPr>
              <a:t>R$ 150–300 mil hoje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080" y="8759952"/>
            <a:ext cx="219456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50976" y="8686800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1FC0EF"/>
                </a:solidFill>
                <a:latin typeface="Consolas"/>
              </a:rPr>
              <a:t>O QUE PROPOMOS À SUA CORRETORA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8933688"/>
            <a:ext cx="6281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B3232"/>
                </a:solidFill>
                <a:latin typeface="Calibri"/>
              </a:rPr>
              <a:t>Administração fiduciária é privativa de instituição autorizada — e a licença de CTVM já habilita a corretora: nada novo a constituir, só o credenciamento na CVM. Vocês entram com a licença, o compliance e a base de gestores da casa; nós, com tecnologia, equipe, operação e todos os custos (não buscamos investimento) — contrapartida em participação nos lucros, sem absorver despesa. Caminho: carta de intenções → credenciamento (dossiê pronto, ~60 dias) → produção sob a marca da corretora → custódia própria (Res. 32). Piloto no ar: argusdtvm.com.br/piloto — tour anexo.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9729216"/>
            <a:ext cx="6281927" cy="402336"/>
          </a:xfrm>
          <a:prstGeom prst="roundRect">
            <a:avLst>
              <a:gd name="adj" fmla="val 14000"/>
            </a:avLst>
          </a:prstGeom>
          <a:solidFill>
            <a:srgbClr val="F4F5FB"/>
          </a:solidFill>
          <a:ln w="12700">
            <a:solidFill>
              <a:srgbClr val="1FC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" y="9802368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1">
                <a:solidFill>
                  <a:srgbClr val="2B3232"/>
                </a:solidFill>
                <a:latin typeface="Georgia"/>
              </a:rPr>
              <a:t>Queremos abrir essa conta com os números da sua corretora — 20 minutos com quem construiu a plataforma. É só responder o e-mail.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40080" y="10268711"/>
            <a:ext cx="6281927" cy="0"/>
          </a:xfrm>
          <a:prstGeom prst="line">
            <a:avLst/>
          </a:prstGeom>
          <a:ln w="9525">
            <a:solidFill>
              <a:srgbClr val="E7E8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080" y="10369296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6A50AC"/>
                </a:solidFill>
                <a:latin typeface="Consolas"/>
              </a:rPr>
              <a:t>vinicius.fernandes@argusdtvm.com.br  ·  argusdtvm.com.br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10369296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0">
                <a:solidFill>
                  <a:srgbClr val="909DAC"/>
                </a:solidFill>
                <a:latin typeface="Consolas"/>
              </a:rPr>
              <a:t>CONFIDENCIAL · DADOS SIMULADOS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