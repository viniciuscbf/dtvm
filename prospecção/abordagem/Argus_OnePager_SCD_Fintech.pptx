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088" cy="2514600"/>
          </a:xfrm>
          <a:prstGeom prst="rect">
            <a:avLst/>
          </a:prstGeom>
          <a:solidFill>
            <a:srgbClr val="171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667512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07007" y="65836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25295" y="1097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50">
                <a:solidFill>
                  <a:srgbClr val="A8B6C6"/>
                </a:solidFill>
                <a:latin typeface="Consolas"/>
              </a:rPr>
              <a:t>ADMINISTRAÇÃO FIDUCIÁRIA DE FUNDOS PEQUENOS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62819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3F6FA"/>
                </a:solidFill>
                <a:latin typeface="Georgia"/>
              </a:rPr>
              <a:t>Um novo vertical de fundos — sobre
a estrutura que você já tem.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12848"/>
            <a:ext cx="6281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1FC0EF"/>
                </a:solidFill>
                <a:latin typeface="Calibri"/>
              </a:rPr>
              <a:t>Administração fiduciária de fundos pequenos — proposta de parceria.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2862072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50976" y="2788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A PROPOSTA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81527"/>
            <a:ext cx="628192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Você entra com a licença e a estrutura que já tem; a Argus entra com a tecnologia e a operação como prestadora de serviço — você continua o administrador de verdade. Juntos, administramos fundos pequenos, um mercado que os grandes ignoram. A receita de administração começa dividida 50/50 — metade para você — e você não investe em tecnologia nem monta equipe.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4142232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50976" y="406908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POR QUE FAZ SENTIDO PARA UMA FINTECH (SCD/PAGAMENTOS)</a:t>
            </a:r>
          </a:p>
        </p:txBody>
      </p:sp>
      <p:sp>
        <p:nvSpPr>
          <p:cNvPr id="13" name="Oval 12"/>
          <p:cNvSpPr/>
          <p:nvPr/>
        </p:nvSpPr>
        <p:spPr>
          <a:xfrm>
            <a:off x="649224" y="4443984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398264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Um produto novo e receita recorrente, sem construir do zero.</a:t>
            </a:r>
          </a:p>
        </p:txBody>
      </p:sp>
      <p:sp>
        <p:nvSpPr>
          <p:cNvPr id="15" name="Oval 14"/>
          <p:cNvSpPr/>
          <p:nvPr/>
        </p:nvSpPr>
        <p:spPr>
          <a:xfrm>
            <a:off x="649224" y="4919472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4873752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Sinergia com a sua base de clientes e com a sua stack tecnológica.</a:t>
            </a:r>
          </a:p>
        </p:txBody>
      </p:sp>
      <p:sp>
        <p:nvSpPr>
          <p:cNvPr id="17" name="Oval 16"/>
          <p:cNvSpPr/>
          <p:nvPr/>
        </p:nvSpPr>
        <p:spPr>
          <a:xfrm>
            <a:off x="649224" y="5394960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349240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A plataforma e a operação já existem — você foca no crescimento.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" y="5870448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24728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Tech-first: falamos a sua língua — automação, API, escala.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6464808"/>
            <a:ext cx="6281927" cy="841248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E7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661111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20">
                <a:solidFill>
                  <a:srgbClr val="6A50AC"/>
                </a:solidFill>
                <a:latin typeface="Consolas"/>
              </a:rPr>
              <a:t>SEU PONTO DE PARTIDA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6830568"/>
            <a:ext cx="57698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Você já tem capital e tecnologia. Ajudamos a estruturar a licença de administrador fiduciário e o caminho até a custódia (DTVM) — o mapa regulatório já está levantado.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7589520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50976" y="751636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A PROVA — NÃO É IDEIA EM GUARDANAPO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7827264"/>
            <a:ext cx="62819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Protótipo operacional funcionando de ponta a ponta (argusdtvm.com.br, dados simulados), do checklist de abertura ao informe diário à CVM. Mapa regulatório levantado e dossiês prontos para protocolar.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8723376"/>
            <a:ext cx="6281927" cy="868680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88696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3F6FA"/>
                </a:solidFill>
                <a:latin typeface="Georgia"/>
              </a:rPr>
              <a:t>0,08% a.a. + R$ 100/mês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92354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8B6C6"/>
                </a:solidFill>
                <a:latin typeface="Calibri"/>
              </a:rPr>
              <a:t>4–5× mais barato — competitivo a partir de R$ 2 milhões de PL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7" y="88696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CFEEFB"/>
                </a:solidFill>
                <a:latin typeface="Consolas"/>
              </a:rPr>
              <a:t>Só 1.277 dos ~31 mil</a:t>
            </a:r>
          </a:p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CFEEFB"/>
                </a:solidFill>
                <a:latin typeface="Consolas"/>
              </a:rPr>
              <a:t>fundos passam de R$ 1 bi.</a:t>
            </a:r>
          </a:p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CFEEFB"/>
                </a:solidFill>
                <a:latin typeface="Consolas"/>
              </a:rPr>
              <a:t>A cauda pequena é enorme.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40080" y="10030967"/>
            <a:ext cx="6281927" cy="0"/>
          </a:xfrm>
          <a:prstGeom prst="line">
            <a:avLst/>
          </a:prstGeom>
          <a:ln w="9525">
            <a:solidFill>
              <a:srgbClr val="E7E8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40080" y="10140696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6A50AC"/>
                </a:solidFill>
                <a:latin typeface="Consolas"/>
              </a:rPr>
              <a:t>contato@argusdtvm.com.br  ·  argusdtvm.com.br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70248" y="10140696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0">
                <a:solidFill>
                  <a:srgbClr val="909DAC"/>
                </a:solidFill>
                <a:latin typeface="Consolas"/>
              </a:rPr>
              <a:t>CONFIDENCIAL · DADOS SIMULADOS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