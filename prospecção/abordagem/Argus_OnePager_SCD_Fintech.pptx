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2514600"/>
          </a:xfrm>
          <a:prstGeom prst="rect">
            <a:avLst/>
          </a:prstGeom>
          <a:solidFill>
            <a:srgbClr val="171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66751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7007" y="6583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295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50">
                <a:solidFill>
                  <a:srgbClr val="A8B6C6"/>
                </a:solidFill>
                <a:latin typeface="Consolas"/>
              </a:rPr>
              <a:t>ADMINISTRAÇÃO FIDUCIÁRIA E CUSTÓDIA DE FUNDOS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3F6FA"/>
                </a:solidFill>
                <a:latin typeface="Georgia"/>
              </a:rPr>
              <a:t>Um novo vertical de fundos — sobre
a estrutura que você já 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6281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FC0EF"/>
                </a:solidFill>
                <a:latin typeface="Calibri"/>
              </a:rPr>
              <a:t>Administração fiduciária e custódia de fundos — proposta de parceria.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86207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50976" y="27889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PROPOSTA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1527"/>
            <a:ext cx="628192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Você entra com a licença e a estrutura que já tem; a Argus entra com a tecnologia e a operação como prestadora de serviço — você continua o administrador de verdade. Juntos, administramos fundos pequenos, um mercado que os grandes ignoram. A receita de administração começa dividida 50/50 — metade para você — e você não investe em tecnologia nem monta equipe.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4142232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50976" y="40690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POR QUE FAZ SENTIDO PARA UMA FINTECH (SCD/PAGAMENTOS)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" y="4443984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398264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Um produto novo e receita recorrente, sem construir do zero.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" y="4919472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873752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Sinergia com a sua base de clientes e com a sua stack tecnológica.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" y="539496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5349240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A plataforma e a operação já existem — você foca no crescimento.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" y="5870448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824728"/>
            <a:ext cx="60807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Tech-first: falamos a sua língua — automação, API, escala.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464808"/>
            <a:ext cx="6281927" cy="84124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E7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66111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6A50AC"/>
                </a:solidFill>
                <a:latin typeface="Consolas"/>
              </a:rPr>
              <a:t>SEU PONTO DE PARTIDA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6830568"/>
            <a:ext cx="57698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Você já tem capital e tecnologia. Ajudamos a estruturar a licença de administrador fiduciário e o caminho até a custódia (DTVM) — o mapa regulatório já está levantado.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7589520"/>
            <a:ext cx="219456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0976" y="751636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1FC0EF"/>
                </a:solidFill>
                <a:latin typeface="Consolas"/>
              </a:rPr>
              <a:t>A PROVA — NÃO É IDEIA EM GUARDANAPO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7827264"/>
            <a:ext cx="62819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Protótipo operacional funcionando de ponta a ponta (argusdtvm.com.br, dados simulados), do checklist de abertura ao informe diário à CVM. Mapa regulatório levantado e dossiês prontos para protocolar.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8723376"/>
            <a:ext cx="6281927" cy="86868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88696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6FA"/>
                </a:solidFill>
                <a:latin typeface="Georgia"/>
              </a:rPr>
              <a:t>0,08% a.a. + R$ 100/mês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9235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8B6C6"/>
                </a:solidFill>
                <a:latin typeface="Calibri"/>
              </a:rPr>
              <a:t>4–5× mais barato — competitivo a partir de R$ 2 milhões de PL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7" y="8869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Só 1.277 dos ~31 mil</a:t>
            </a:r>
          </a:p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fundos passam de R$ 1 bi.</a:t>
            </a:r>
          </a:p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CFEEFB"/>
                </a:solidFill>
                <a:latin typeface="Consolas"/>
              </a:rPr>
              <a:t>A cauda pequena é enorme.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10030967"/>
            <a:ext cx="6281927" cy="0"/>
          </a:xfrm>
          <a:prstGeom prst="line">
            <a:avLst/>
          </a:prstGeom>
          <a:ln w="9525">
            <a:solidFill>
              <a:srgbClr val="E7E8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10140696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6A50AC"/>
                </a:solidFill>
                <a:latin typeface="Consolas"/>
              </a:rPr>
              <a:t>contato@argusdtvm.com.br  ·  argusdtvm.com.br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0248" y="1014069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50">
                <a:solidFill>
                  <a:srgbClr val="909DAC"/>
                </a:solidFill>
                <a:latin typeface="Consolas"/>
              </a:rPr>
              <a:t>CONFIDENCIAL · DADOS SIMULADOS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