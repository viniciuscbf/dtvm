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do PL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B54A3A"/>
              </a:solidFill>
              <a:ln>
                <a:noFill/>
              </a:ln>
            </c:spPr>
          </c:dPt>
          <c:dPt>
            <c:idx val="1"/>
            <c:spPr>
              <a:solidFill>
                <a:srgbClr val="B54A3A"/>
              </a:solidFill>
              <a:ln>
                <a:noFill/>
              </a:ln>
            </c:spPr>
          </c:dPt>
          <c:dPt>
            <c:idx val="2"/>
            <c:spPr>
              <a:solidFill>
                <a:srgbClr val="6A50AC"/>
              </a:solidFill>
              <a:ln>
                <a:noFill/>
              </a:ln>
            </c:spPr>
          </c:dPt>
          <c:dPt>
            <c:idx val="3"/>
            <c:spPr>
              <a:solidFill>
                <a:srgbClr val="6A50AC"/>
              </a:solidFill>
              <a:ln>
                <a:noFill/>
              </a:ln>
            </c:spPr>
          </c:dPt>
          <c:dPt>
            <c:idx val="4"/>
            <c:spPr>
              <a:solidFill>
                <a:srgbClr val="6A50AC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R$ 1 mi</c:v>
                </c:pt>
                <c:pt idx="1">
                  <c:v>R$ 2 mi</c:v>
                </c:pt>
                <c:pt idx="2">
                  <c:v>R$ 5 mi</c:v>
                </c:pt>
                <c:pt idx="3">
                  <c:v>R$ 10 mi</c:v>
                </c:pt>
                <c:pt idx="4">
                  <c:v>R$ 20 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6.0</c:v>
                </c:pt>
                <c:pt idx="1">
                  <c:v>3.0</c:v>
                </c:pt>
                <c:pt idx="2">
                  <c:v>1.2</c:v>
                </c:pt>
                <c:pt idx="3">
                  <c:v>0.6</c:v>
                </c:pt>
                <c:pt idx="4">
                  <c:v>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mil/ano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Tradicional</c:v>
                </c:pt>
                <c:pt idx="1">
                  <c:v>Com a Argus</c:v>
                </c:pt>
              </c:strCache>
            </c:strRef>
          </c:cat>
          <c:val>
            <c:numRef>
              <c:f>Sheet1!$B$2:$B$3</c:f>
              <c:numCache>
                <c:formatCode>"R$ "0" mil"</c:formatCode>
                <c:ptCount val="2"/>
                <c:pt idx="0">
                  <c:v>60</c:v>
                </c:pt>
                <c:pt idx="1">
                  <c:v>13</c:v>
                </c:pt>
              </c:numCache>
            </c:numRef>
          </c:val>
        </c:ser>
        <c:dLbls>
          <c:numFmt formatCode="&quot;R$ &quot;0&quot; mil&quot;" sourceLinked="0"/>
          <c:txPr>
            <a:bodyPr/>
            <a:lstStyle/>
            <a:p>
              <a:pPr>
                <a:defRPr sz="900" b="1">
                  <a:solidFill>
                    <a:srgbClr val="F3F6FA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A8B6C6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A8B6C6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A8B6C6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 CDI</c:v>
                </c:pt>
              </c:strCache>
            </c:strRef>
          </c:tx>
          <c:spPr>
            <a:ln w="33020">
              <a:solidFill>
                <a:srgbClr val="6A50AC"/>
              </a:solidFill>
            </a:ln>
          </c:spPr>
          <c:marker>
            <c:symbol val="circle"/>
            <c:size val="6"/>
            <c:spPr>
              <a:solidFill>
                <a:srgbClr val="6A50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97.3</c:v>
                </c:pt>
                <c:pt idx="1">
                  <c:v>99.9</c:v>
                </c:pt>
                <c:pt idx="2">
                  <c:v>101.2</c:v>
                </c:pt>
                <c:pt idx="3">
                  <c:v>101.5</c:v>
                </c:pt>
                <c:pt idx="4">
                  <c:v>101.9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CDI (100%)</c:v>
                </c:pt>
              </c:strCache>
            </c:strRef>
          </c:tx>
          <c:spPr>
            <a:ln w="12700">
              <a:solidFill>
                <a:srgbClr val="909DAC"/>
              </a:solidFill>
            </a:ln>
          </c:spPr>
          <c:marker>
            <c:symbol val="circle"/>
            <c:size val="6"/>
            <c:spPr>
              <a:solidFill>
                <a:srgbClr val="909D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Sheet1!$C$2:$C$6</c:f>
              <c:numCache>
                <c:formatCode>0.0"%"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mil</c:v>
                </c:pt>
              </c:strCache>
            </c:strRef>
          </c:tx>
          <c:spPr>
            <a:solidFill>
              <a:srgbClr val="1FC0E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R$50mi</c:v>
                </c:pt>
                <c:pt idx="1">
                  <c:v>R$200mi</c:v>
                </c:pt>
                <c:pt idx="2">
                  <c:v>R$500mi</c:v>
                </c:pt>
                <c:pt idx="3">
                  <c:v>R$1bi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20</c:v>
                </c:pt>
                <c:pt idx="1">
                  <c:v>80</c:v>
                </c:pt>
                <c:pt idx="2">
                  <c:v>200</c:v>
                </c:pt>
                <c:pt idx="3">
                  <c:v>350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1º ano (sem taxa CVM)</c:v>
                </c:pt>
              </c:strCache>
            </c:strRef>
          </c:tx>
          <c:spPr>
            <a:ln w="27940">
              <a:solidFill>
                <a:srgbClr val="4A6DC0"/>
              </a:solidFill>
            </a:ln>
          </c:spPr>
          <c:marker>
            <c:symbol val="circle"/>
            <c:size val="6"/>
            <c:spPr>
              <a:solidFill>
                <a:srgbClr val="4A6DC0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100.3</c:v>
                </c:pt>
                <c:pt idx="1">
                  <c:v>101.4</c:v>
                </c:pt>
                <c:pt idx="2">
                  <c:v>101.8</c:v>
                </c:pt>
                <c:pt idx="3">
                  <c:v>102.0</c:v>
                </c:pt>
                <c:pt idx="4">
                  <c:v>102.1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Regime permanente</c:v>
                </c:pt>
              </c:strCache>
            </c:strRef>
          </c:tx>
          <c:spPr>
            <a:ln w="33020">
              <a:solidFill>
                <a:srgbClr val="6A50AC"/>
              </a:solidFill>
            </a:ln>
          </c:spPr>
          <c:marker>
            <c:symbol val="circle"/>
            <c:size val="6"/>
            <c:spPr>
              <a:solidFill>
                <a:srgbClr val="6A50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Sheet1!$C$2:$C$6</c:f>
              <c:numCache>
                <c:formatCode>0.0"%"</c:formatCode>
                <c:ptCount val="5"/>
                <c:pt idx="0">
                  <c:v>97.3</c:v>
                </c:pt>
                <c:pt idx="1">
                  <c:v>99.9</c:v>
                </c:pt>
                <c:pt idx="2">
                  <c:v>101.2</c:v>
                </c:pt>
                <c:pt idx="3">
                  <c:v>101.5</c:v>
                </c:pt>
                <c:pt idx="4">
                  <c:v>101.9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CDI</c:v>
                </c:pt>
              </c:strCache>
            </c:strRef>
          </c:tx>
          <c:spPr>
            <a:ln w="12700">
              <a:solidFill>
                <a:srgbClr val="909DAC"/>
              </a:solidFill>
            </a:ln>
          </c:spPr>
          <c:marker>
            <c:symbol val="circle"/>
            <c:size val="6"/>
            <c:spPr>
              <a:solidFill>
                <a:srgbClr val="909D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Sheet1!$D$2:$D$6</c:f>
              <c:numCache>
                <c:formatCode>0.0"%"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Gestão · 0,70% (do gestor)</c:v>
                </c:pt>
              </c:strCache>
            </c:strRef>
          </c:tx>
          <c:spPr>
            <a:solidFill>
              <a:srgbClr val="5B6B7F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Sheet1!$B$2:$B$2</c:f>
              <c:numCache>
                <c:formatCode>0.00"%"</c:formatCode>
                <c:ptCount val="1"/>
                <c:pt idx="0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Taxa CVM · R$3.162</c:v>
                </c:pt>
              </c:strCache>
            </c:strRef>
          </c:tx>
          <c:spPr>
            <a:solidFill>
              <a:srgbClr val="B54A3A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Sheet1!$C$2:$C$2</c:f>
              <c:numCache>
                <c:formatCode>0.00"%"</c:formatCode>
                <c:ptCount val="1"/>
                <c:pt idx="0">
                  <c:v>0.06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Auditoria · R$1.500</c:v>
                </c:pt>
              </c:strCache>
            </c:strRef>
          </c:tx>
          <c:spPr>
            <a:solidFill>
              <a:srgbClr val="17A2CE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Sheet1!$D$2:$D$2</c:f>
              <c:numCache>
                <c:formatCode>0.00"%"</c:formatCode>
                <c:ptCount val="1"/>
                <c:pt idx="0">
                  <c:v>0.03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Administração · 0,08% (Argus)</c:v>
                </c:pt>
              </c:strCache>
            </c:strRef>
          </c:tx>
          <c:spPr>
            <a:solidFill>
              <a:srgbClr val="6A50AC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Sheet1!$E$2:$E$2</c:f>
              <c:numCache>
                <c:formatCode>0.00"%"</c:formatCode>
                <c:ptCount val="1"/>
                <c:pt idx="0">
                  <c:v>0.08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Custódia · R$0 (corretora)</c:v>
                </c:pt>
              </c:strCache>
            </c:strRef>
          </c:tx>
          <c:spPr>
            <a:solidFill>
              <a:srgbClr val="4A6DC0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Sheet1!$F$2:$F$2</c:f>
              <c:numCache>
                <c:formatCode>0.00"%"</c:formatCode>
                <c:ptCount val="1"/>
                <c:pt idx="0">
                  <c:v>0.001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10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Taxa 0,08%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R$5mi</c:v>
                </c:pt>
                <c:pt idx="1">
                  <c:v>R$50mi</c:v>
                </c:pt>
                <c:pt idx="2">
                  <c:v>R$200mi</c:v>
                </c:pt>
                <c:pt idx="3">
                  <c:v>R$500mi</c:v>
                </c:pt>
                <c:pt idx="4">
                  <c:v>R$800mi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</c:v>
                </c:pt>
                <c:pt idx="1">
                  <c:v>40</c:v>
                </c:pt>
                <c:pt idx="2">
                  <c:v>160</c:v>
                </c:pt>
                <c:pt idx="3">
                  <c:v>400</c:v>
                </c:pt>
                <c:pt idx="4">
                  <c:v>640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Taxa 0,05% (grandes)</c:v>
                </c:pt>
              </c:strCache>
            </c:strRef>
          </c:tx>
          <c:spPr>
            <a:solidFill>
              <a:srgbClr val="4A6DC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R$5mi</c:v>
                </c:pt>
                <c:pt idx="1">
                  <c:v>R$50mi</c:v>
                </c:pt>
                <c:pt idx="2">
                  <c:v>R$200mi</c:v>
                </c:pt>
                <c:pt idx="3">
                  <c:v>R$500mi</c:v>
                </c:pt>
                <c:pt idx="4">
                  <c:v>R$800mi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2.5</c:v>
                </c:pt>
                <c:pt idx="1">
                  <c:v>25</c:v>
                </c:pt>
                <c:pt idx="2">
                  <c:v>100</c:v>
                </c:pt>
                <c:pt idx="3">
                  <c:v>250</c:v>
                </c:pt>
                <c:pt idx="4">
                  <c:v>400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5B6B7F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R$/ano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até R$2,5mi</c:v>
                </c:pt>
                <c:pt idx="1">
                  <c:v>R$2,5–5mi</c:v>
                </c:pt>
                <c:pt idx="2">
                  <c:v>R$5–10mi</c:v>
                </c:pt>
                <c:pt idx="3">
                  <c:v>R$10–20mi</c:v>
                </c:pt>
                <c:pt idx="4">
                  <c:v>R$20–40mi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2400</c:v>
                </c:pt>
                <c:pt idx="1">
                  <c:v>3600</c:v>
                </c:pt>
                <c:pt idx="2">
                  <c:v>5400</c:v>
                </c:pt>
                <c:pt idx="3">
                  <c:v>7200</c:v>
                </c:pt>
                <c:pt idx="4">
                  <c:v>9600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80010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6816" y="98755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10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1645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743200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3035808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3F6FA"/>
                </a:solidFill>
                <a:latin typeface="Georgia"/>
              </a:rPr>
              <a:t>Uma nova linha de receita recorrente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3700" b="0" i="1">
                <a:solidFill>
                  <a:srgbClr val="1FC0EF"/>
                </a:solidFill>
                <a:latin typeface="Georgia"/>
              </a:rPr>
              <a:t>para a sua corretora.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9204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6C6"/>
                </a:solidFill>
                <a:latin typeface="Calibri"/>
              </a:rPr>
              <a:t>Vocês entram com a licença, a distribuição e os clientes gestores que já têm. Nós entramos com a tecnologia e a operação. Juntos, transformamos corretagem transacional em receita recorrente — num mercado que os grandes decidiram ignorar.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108192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2362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6D8096"/>
                </a:solidFill>
                <a:latin typeface="Consolas"/>
              </a:rPr>
              <a:t>PROPOSTA DE PARCERIA · CONFIDENCIAL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8447" y="62362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6D8096"/>
                </a:solidFill>
                <a:latin typeface="Consolas"/>
              </a:rPr>
              <a:t>PROTÓTIPO OPERACIONAL · DADOS SIMULADOS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PROBLEMA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LACUNA DE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regulação permite o fundo de R$ 1 milhão. O custo, não.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95728"/>
            <a:ext cx="4343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Um fundo pequeno carrega hoje R$ 50–70 mil por ano de custo fixo — gestão, administração, custódia, auditoria e taxa CVM — quase todo independente do tamanho do fundo.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Num fundo de R$ 1 milhão, isso é 5–7% do patrimônio ao ano. Nenhum fundo sobrevive a isso. Por isso, na prática, só se abre um fundo a partir de ~R$ 10 milhões.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CUSTO FIXO ANUAL (~R$ 60 MIL) COMO % DO PL DO FUNDO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0" y="2697480"/>
          <a:ext cx="568116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Custo fixo de um fundo pequeno: R$ 50–70 mil/ano (InfoMoney, 2023). % calculado sobre R$ 60 mil.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PROBLEMA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POR QUE A LACUNA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custo de operar um fundo é fixo — não cabe no pequeno.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Custo por fundo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é majoritariamente FIXO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cota · conciliação · reporte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71180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90636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2076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Não cai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com o tamanho do fundo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788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R$ mil por fundo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20569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40025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1465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Administradora cobra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mínimo mensal alto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177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milhares/mês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69957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9413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0853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Fundo pequeno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fica inviável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2565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5–7% do PL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19346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38802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30242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Os grandes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ignoram o segmento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1954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foco em PL alto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343400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572000"/>
            <a:ext cx="105091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232"/>
                </a:solidFill>
                <a:latin typeface="Calibri"/>
              </a:rPr>
              <a:t>A ineficiência não é maldade — é estrutura de custo. </a:t>
            </a:r>
            <a:r>
              <a:rPr sz="1400" b="0" i="0">
                <a:solidFill>
                  <a:srgbClr val="5B6B7F"/>
                </a:solidFill>
                <a:latin typeface="Calibri"/>
              </a:rPr>
              <a:t>Calcular cota, conciliar e reportar custa quase o mesmo para um fundo de R$ 1 milhão e para um de R$ 1 bilhão. Como o administrador tradicional faz isso com gente e sistemas antigos, ele precisa de mínimos altos — e o fundo pequeno simplesmente não cabe na conta dele.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Diagnóstico: plano_dtvm_fundos_pequenos.md (§2).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OPORTUNIDADE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QUEM FICA DE FORA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Existe demanda — represada pelo custo.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144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33856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Gestores certificados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Profissionais que começariam com R$ 2–5 milhões e uma estratégia própria — mas não encontram administrador que os atenda por preço viável.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1474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4082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92370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74082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Assessorias de investimento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4082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27.515 assessores e 1.418 escritórios que poderiam ter o fundo próprio como produto — hoje sem uma via barata para criá-lo.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1700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4308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2596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4308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Estratégias de nicho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4308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Casas pequenas: 51% das gestoras têm menos de R$ 400 milhões. Só 1.277 dos ~31 mil fundos passam de R$ 1 bilhão — a cauda é imensa.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532120"/>
            <a:ext cx="10509199" cy="56692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641848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E os concorrentes de infraestrutura (Kanastra, QI Tech, Vórtx, BRLTrust, Singulare) foram todos para FIDC e crédito estruturado de ticket alto. O fundo pequeno genérico segue desatendido.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ANCORD (assessores, dez/2025); ANBIMA (976 gestoras; 51% &lt;R$400mi); imprensa (foco das fintechs).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TESE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VIRADA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Construir para escala desde o primeiro fundo.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6C6"/>
                </a:solidFill>
                <a:latin typeface="Calibri"/>
              </a:rPr>
              <a:t>Se a infraestrutura for desenhada para rodar centenas de fundos, o custo do fundo nº 500 é quase o do fundo nº 5. Aí o segmento que ninguém quer vira lucrativo.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383280"/>
            <a:ext cx="4892040" cy="22860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5844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54A3A"/>
                </a:solidFill>
                <a:latin typeface="Consolas"/>
              </a:rPr>
              <a:t>HOJE — ESTRUTURA TRADICIONAL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23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Custo fixo alto por fundo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498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Mínimo mensal caro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974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9743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Fundo pequeno inviável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16168" y="4526280"/>
            <a:ext cx="731520" cy="0"/>
          </a:xfrm>
          <a:prstGeom prst="line">
            <a:avLst/>
          </a:prstGeom>
          <a:ln w="2794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30568" y="3383280"/>
            <a:ext cx="4892040" cy="22860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35844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1FC0EF"/>
                </a:solidFill>
                <a:latin typeface="Consolas"/>
              </a:rPr>
              <a:t>A PROPOSTA — INFRA PARA ESCALA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4023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Custo marginal por fundo ~zero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4498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Taxa enxuta: 0,08% + R$100/mês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974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49743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Fundo pequeno viável e lucrativo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plano_dtvm_fundos_pequenos.md (§2–3). Taxa 0,08% a.a. + piso R$ 100/mês.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SOLUÇÃO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PLATAFORMA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Uma administradora onde a máquina faz o ciclo inteiro.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Batch D-1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precifica 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por curvas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0409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6868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012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Concilia com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o custodiante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83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caixa e ativos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153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9612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756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Calcula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a cota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927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automático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897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2356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500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Prévia ao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gestor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671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D-1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8641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5100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244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6FA"/>
                </a:solidFill>
                <a:latin typeface="Calibri"/>
              </a:rPr>
              <a:t>Gestor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6FA"/>
                </a:solidFill>
                <a:latin typeface="Calibri"/>
              </a:rPr>
              <a:t>aprova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415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dupla checagem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1385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7844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988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Publica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a cota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159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D-0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4129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0588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732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Informe 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903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1 dia útil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416052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4279392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B3232"/>
                </a:solidFill>
                <a:latin typeface="Calibri"/>
              </a:rPr>
              <a:t>Nada é publicado sem a aprovação formal do gestor. Cada correção vira lançamento com trilha. É a dupla checagem que produz prova de diligência — a blindagem da corretora.</a:t>
            </a:r>
          </a:p>
        </p:txBody>
      </p:sp>
      <p:sp>
        <p:nvSpPr>
          <p:cNvPr id="40" name="Oval 39"/>
          <p:cNvSpPr/>
          <p:nvPr/>
        </p:nvSpPr>
        <p:spPr>
          <a:xfrm>
            <a:off x="850392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Custódia integrada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o gestor boleta, a liquidação é entrega-contra-pagamento e a posição reflete no dia.</a:t>
            </a:r>
          </a:p>
        </p:txBody>
      </p:sp>
      <p:sp>
        <p:nvSpPr>
          <p:cNvPr id="43" name="Oval 42"/>
          <p:cNvSpPr/>
          <p:nvPr/>
        </p:nvSpPr>
        <p:spPr>
          <a:xfrm>
            <a:off x="4475378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5690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Reporte automático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5690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informe diário à CVM em 1 dia útil; mensais em 10 — sem trabalho manual.</a:t>
            </a:r>
          </a:p>
        </p:txBody>
      </p:sp>
      <p:sp>
        <p:nvSpPr>
          <p:cNvPr id="46" name="Oval 45"/>
          <p:cNvSpPr/>
          <p:nvPr/>
        </p:nvSpPr>
        <p:spPr>
          <a:xfrm>
            <a:off x="8100364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0676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Camada de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0676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leitura de regulamentos e monitoramento de fraude em 100% dos fundos, todo dia.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Ciclo validado no protótipo; espelha o fluxo da Res. CVM 175 (informe diário em 1 d.u.).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SOLUÇÃO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DIFERENCIAL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fundo vira um instrumento ágil — de abrir e de encerrar.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Solicitação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do cliente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1180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636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2076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Constituição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por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788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regulamento · políticas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20569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0025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1465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Registro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integrações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177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automáticas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9957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89413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0853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Operação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2565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cota · enquadramento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19346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38802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0242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Encerramento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padronizado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1954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baixo atrito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Menor tempo até operar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colocar um fundo de pé em prazo muito menor que o processo artesanal de hoje.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1474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7506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Baixo custo de saída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7506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encerrar um fundo que não vingou deixa de ser um processo caro e travado.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1700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7732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Experimentação viável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7732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criar e encerrar com agilidade reduz o risco de tentar — combina com fundos pequenos.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Honesto: “ágil” é o mais rápido que a regulação permite. O encerramento tem etapas legais (liquidação, pagamento, baixa na CVM) que não se comprimem à vontade — mas sem gargalo interno.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(§4.3).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CAPTAÇÃO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DE ONDE VÊM OS FUNDOS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Quatro portas de entrada — e uma escada.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10509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A50AC"/>
                </a:solidFill>
                <a:latin typeface="Consolas"/>
              </a:rPr>
              <a:t>AGORA · FUNDOS PEQUENOS (R$ 1–10 MILHÕES)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Clubes de investimento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Batem no teto de 50 participantes e querem crescer. Viram fundo para captar do público — e, por subclasse, o sócio-fundador paga taxa menor que o público novo.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15568" y="4572000"/>
            <a:ext cx="2680106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33856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subclasse: sócio paga menos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1474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794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94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Assessores de investimento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5794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Milhares de escritórios que hoje alocam cliente a cliente passam a distribuir um veículo dedicado — com gestor habilitado — para concentrar o capital dos clientes num fundo só.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5794" y="4572000"/>
            <a:ext cx="2680106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774082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8674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distribuidor · gestor habilitado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1700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6020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6020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Gestores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6020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Fatiam uma estratégia em vários veículos sob medida — por benchmark e por perfil de cliente — e multiplicam a captação. É o multiplicador do próximo slide.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96020" y="4572000"/>
            <a:ext cx="2680107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414308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8900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1 fundo → N veículos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120640"/>
            <a:ext cx="10509199" cy="93268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6A5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2395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A50AC"/>
                </a:solidFill>
                <a:latin typeface="Consolas"/>
              </a:rPr>
              <a:t>2º PASSO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486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Fundos médios · R$ 50–800 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5248656"/>
            <a:ext cx="56171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Com a operação calibrada, subimos de ticket. A mesma máquina que viabiliza um fundo de R$ 1 mi barateia enormemente um de R$ 200 mi. Acima de ~R$ 800 mi, o fundo já negocia taxa com os grandes — não é alvo.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(§6.2). Captação por segmento — três portas agora, os médios como 2º passo.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CAPTAÇÃO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MULTIPLICADOR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 fundo, vários veículos sob medida.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O gestor não precisa de um fundo novo para cada público. Sob uma única casca, a plataforma cria quantos veículos ele quiser — um para cada perfil — a custo marginal quase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246120"/>
            <a:ext cx="3063240" cy="196596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48386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1FC0EF"/>
                </a:solidFill>
                <a:latin typeface="Consolas"/>
              </a:rPr>
              <a:t>1 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77647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3F6FA"/>
                </a:solidFill>
                <a:latin typeface="Georgia"/>
              </a:rPr>
              <a:t>A casca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37997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CNPJ · 1 regulamento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63600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auditoria · 1 contabilidade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9204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registro CVM/ANBIMA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04488" y="3337560"/>
            <a:ext cx="2450592" cy="891540"/>
          </a:xfrm>
          <a:prstGeom prst="line">
            <a:avLst/>
          </a:prstGeom>
          <a:ln w="1651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3063240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31546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1FC0EF"/>
                </a:solidFill>
                <a:latin typeface="Consolas"/>
              </a:rPr>
              <a:t>SUBCLASSE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328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Sócios do clube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27832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taxa de gestão menor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04488" y="3995928"/>
            <a:ext cx="2450592" cy="233172"/>
          </a:xfrm>
          <a:prstGeom prst="line">
            <a:avLst/>
          </a:prstGeom>
          <a:ln w="1651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55080" y="3721608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8130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1FC0EF"/>
                </a:solidFill>
                <a:latin typeface="Consolas"/>
              </a:rPr>
              <a:t>SUBCLASSE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9867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Público geral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886200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taxa cheia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04488" y="4229100"/>
            <a:ext cx="2450592" cy="425196"/>
          </a:xfrm>
          <a:prstGeom prst="line">
            <a:avLst/>
          </a:prstGeom>
          <a:ln w="16510">
            <a:solidFill>
              <a:srgbClr val="4A6D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55080" y="4379976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447141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4A6DC0"/>
                </a:solidFill>
                <a:latin typeface="Consolas"/>
              </a:rPr>
              <a:t>CLASSE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46451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Perfil conservador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544568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benchmark CDI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04488" y="4229100"/>
            <a:ext cx="2450592" cy="1083564"/>
          </a:xfrm>
          <a:prstGeom prst="line">
            <a:avLst/>
          </a:prstGeom>
          <a:ln w="16510">
            <a:solidFill>
              <a:srgbClr val="4A6D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55080" y="5038344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4536" y="5129783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4A6DC0"/>
                </a:solidFill>
                <a:latin typeface="Consolas"/>
              </a:rPr>
              <a:t>CLASSE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4536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Perfil arrojado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5202936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benchmark Bovespa + S&amp;P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77900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Classe separa ATIVOS (estratégias distintas); subclasse separa PASSIVO (público, taxas, benchmark) — mesmo portfólio. Na infra tradicional, cada um seria um fundo novo e caro.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guia_estruturas_classes_subclasses.md (Res. CVM 175). Classe = CNPJ/ativos; subclasse = só passivo.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PREÇO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Muito mais barato — porque o custo é de software.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4709160" cy="32004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1FC0EF"/>
                </a:solidFill>
                <a:latin typeface="Consolas"/>
              </a:rPr>
              <a:t>A TAXA DA 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1089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3F6FA"/>
                </a:solidFill>
                <a:latin typeface="Georgia"/>
              </a:rPr>
              <a:t>0,08%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886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6"/>
                </a:solidFill>
                <a:latin typeface="Calibri"/>
              </a:rPr>
              <a:t>ao ano sobre o patrimônio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1288" y="4343400"/>
            <a:ext cx="4069080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61288" y="4480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C0EF"/>
                </a:solidFill>
                <a:latin typeface="Georgia"/>
              </a:rPr>
              <a:t>+ piso de R$ 100/mês por fundo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0292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Só a administração é padronizada pela plataforma. Gestão e performance ficam com o gestor, no regulamento.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A8B6C6"/>
                </a:solidFill>
                <a:latin typeface="Consolas"/>
              </a:rPr>
              <a:t>CUSTO TOTAL ANUAL DE UM FUNDO DE R$ 1 MILHÃO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806440" y="2743200"/>
          <a:ext cx="5544007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06440" y="5760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D8096"/>
                </a:solidFill>
                <a:latin typeface="Consolas"/>
              </a:rPr>
              <a:t>Tradicional: R$ 50–70 mil/ano (InfoMoney). Argus: 1,29% de R$ 1 mi (custo total do modelo, planilha de custos).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ONDE O CUSTO MORA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Onde cada real some.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37744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99971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2B3232"/>
                </a:solidFill>
                <a:latin typeface="Calibri"/>
              </a:rPr>
              <a:t>O piso de administração dos grandes é R$ 15–25 mil por mês (BRL Trust, Vórtx, Reag, Oliveira Trust). O nosso é R$ 100. A diferença não é o percentual — é o PISO.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46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COMPONENTE (fundo R$ 1 mi)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32461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246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ARGUS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246120"/>
            <a:ext cx="4108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COMO BARATEAMOS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35387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3675887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Administração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675887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R$ 15–25 mil/mês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675887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R$ 100/mês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675887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software, não trabalho manual por fundo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08736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160520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Custódia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41605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~R$ 1.500/mês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416052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R$ 0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60520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absorvida pela corretora parceira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457200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4645152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Auditoria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64515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~R$ 11 mil/ano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464515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~R$ 1,5 mil/ano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45152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mesmo auditor em lote, carteiras padronizadas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248" y="505663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" y="5129783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Taxa CVM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5129783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~R$ 3 mil/ano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5129783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~R$ 3 mil/ano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5129783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igual — é tributo, não dá para baratear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8" y="554126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1248" y="5614415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Total ex-gestão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5614415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~R$ 50–70 mil/ano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5614415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~R$ 6 mil/ano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5614415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≈ 10× mais barato no fundo pequeno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602589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Regulamentos reais (CVM/Fundos.NET): BRL Trust, Vórtx, Oliveira Trust, Singulare, Reag; auditoria XP. Ver benchmark_precos_concorrencia.md.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PRODUTO VENDE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E o fundo entrega ao cotista? Sim — a partir de R$ 2 milhões.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4297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Um fundo de crédito privado rendendo CDI+1, com gestão de 0,7% e os nossos custos, entrega ao cotista, líquido de tudo: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R$ 1 mi — 97% do CDI (caso-limite)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R$ 2 mi — empata com o CDI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R$ 5 mi + — supera o CDI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O vilão do fundo minúsculo são custos fixos que não controlamos (auditoria, taxa CVM). Existe produto vendável exatamente na faixa que ninguém atende.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RENTABILIDADE LÍQUIDA COMO % DO CDI, POR PL DO FUNDO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0" y="2697480"/>
          <a:ext cx="568116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(§7.1, regime permanente). Premissa: CDI 10,5%, ativos CDI+1; conservador com a Selic atual (14,25%).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Cada lado faz o que já sabe fazer.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4846320" cy="25146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6974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FC0EF"/>
                </a:solidFill>
                <a:latin typeface="Consolas"/>
              </a:rPr>
              <a:t>A CORRETORA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9992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6FA"/>
                </a:solidFill>
                <a:latin typeface="Georgia"/>
              </a:rPr>
              <a:t>Administradora fiduciária formal</a:t>
            </a:r>
          </a:p>
        </p:txBody>
      </p:sp>
      <p:sp>
        <p:nvSpPr>
          <p:cNvPr id="14" name="Oval 13"/>
          <p:cNvSpPr/>
          <p:nvPr/>
        </p:nvSpPr>
        <p:spPr>
          <a:xfrm>
            <a:off x="1175004" y="3515868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56432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licença e a estrutura que já existem</a:t>
            </a:r>
          </a:p>
        </p:txBody>
      </p:sp>
      <p:sp>
        <p:nvSpPr>
          <p:cNvPr id="16" name="Oval 15"/>
          <p:cNvSpPr/>
          <p:nvPr/>
        </p:nvSpPr>
        <p:spPr>
          <a:xfrm>
            <a:off x="1175004" y="3899915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Os diretores estatutários responsáveis</a:t>
            </a:r>
          </a:p>
        </p:txBody>
      </p:sp>
      <p:sp>
        <p:nvSpPr>
          <p:cNvPr id="18" name="Oval 17"/>
          <p:cNvSpPr/>
          <p:nvPr/>
        </p:nvSpPr>
        <p:spPr>
          <a:xfrm>
            <a:off x="1175004" y="4283964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2452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responsabilidade perante a CVM</a:t>
            </a:r>
          </a:p>
        </p:txBody>
      </p:sp>
      <p:sp>
        <p:nvSpPr>
          <p:cNvPr id="20" name="Oval 19"/>
          <p:cNvSpPr/>
          <p:nvPr/>
        </p:nvSpPr>
        <p:spPr>
          <a:xfrm>
            <a:off x="1175004" y="4668012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608576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conta e o nome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2468880"/>
            <a:ext cx="4885639" cy="2514600"/>
          </a:xfrm>
          <a:prstGeom prst="roundRect">
            <a:avLst>
              <a:gd name="adj" fmla="val 5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2697480"/>
            <a:ext cx="4336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A50AC"/>
                </a:solidFill>
                <a:latin typeface="Consolas"/>
              </a:rPr>
              <a:t>A ARGUS (NOSSA EQUIPE)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416" y="2999232"/>
            <a:ext cx="4336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Tecnologia + operação</a:t>
            </a:r>
          </a:p>
        </p:txBody>
      </p:sp>
      <p:sp>
        <p:nvSpPr>
          <p:cNvPr id="25" name="Oval 24"/>
          <p:cNvSpPr/>
          <p:nvPr/>
        </p:nvSpPr>
        <p:spPr>
          <a:xfrm>
            <a:off x="6798564" y="3515868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456432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plataforma completa, já construída</a:t>
            </a:r>
          </a:p>
        </p:txBody>
      </p:sp>
      <p:sp>
        <p:nvSpPr>
          <p:cNvPr id="27" name="Oval 26"/>
          <p:cNvSpPr/>
          <p:nvPr/>
        </p:nvSpPr>
        <p:spPr>
          <a:xfrm>
            <a:off x="6798564" y="3899915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840480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operação da controladoria, ponta a ponta</a:t>
            </a:r>
          </a:p>
        </p:txBody>
      </p:sp>
      <p:sp>
        <p:nvSpPr>
          <p:cNvPr id="29" name="Oval 28"/>
          <p:cNvSpPr/>
          <p:nvPr/>
        </p:nvSpPr>
        <p:spPr>
          <a:xfrm>
            <a:off x="6798564" y="4283964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224528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originação de novos fundos</a:t>
            </a:r>
          </a:p>
        </p:txBody>
      </p:sp>
      <p:sp>
        <p:nvSpPr>
          <p:cNvPr id="31" name="Oval 30"/>
          <p:cNvSpPr/>
          <p:nvPr/>
        </p:nvSpPr>
        <p:spPr>
          <a:xfrm>
            <a:off x="6798564" y="4668012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608576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Os manuais e controles que protegem a instituição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212080"/>
            <a:ext cx="10509199" cy="868680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1288" y="53309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Divisão da receita de administração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641848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 corretora (administrador) remunera a Argus pelos serviços de tecnologia e operação. Começa 50/50 — com opção de recompra que pode levar a 15/85.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0047" y="5303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A50AC"/>
                </a:solidFill>
                <a:latin typeface="Georgia"/>
              </a:rPr>
              <a:t>50 / 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0047" y="5852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5B6B7F"/>
                </a:solidFill>
                <a:latin typeface="Consolas"/>
              </a:rPr>
              <a:t>A CORRETORA / ARGUS — INÍCIO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175 art. 118 §1º (repasse a prestador contratado). Linha vermelha: a corretora é o administrador de verdade — decide, controla e responde.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CONTA PARA A CORRETORA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Receita nova, custo de entrada quase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578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5B6B7F"/>
                </a:solidFill>
                <a:latin typeface="Consolas"/>
              </a:rPr>
              <a:t>FATIA INICIAL DA CORRETORA (50%) — R$ MIL/ANO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635240" y="2697480"/>
          <a:ext cx="371520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35240" y="57790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909DAC"/>
                </a:solidFill>
                <a:latin typeface="Consolas"/>
              </a:rPr>
              <a:t>PL sob administração. 50% de 0,08% a.a.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909DAC"/>
                </a:solidFill>
                <a:latin typeface="Consolas"/>
              </a:rPr>
              <a:t>(participação inicial; ver opção de recompra).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245973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395728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Custo de entrada ~zero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06624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sem investir em tecnologia nem contratar equipe — a receita nasce sobre a estrutura atual.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20954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145536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Dispensa de capital mínimo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5643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por já ser instituição autorizada, a corretora não precisa dos R$ 550 mil de capital exigidos de uma PJ comum.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" y="3959352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895344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Alavancagem operacional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0624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estrutura custa ~R$ 27 mil/ano fixos; quase toda receita nova vira resultado.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470916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45152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Originação incluída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560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somos nós que trazemos os fundos — a corretora não precisa de esforço comercial.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376672"/>
            <a:ext cx="6629400" cy="603504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477256"/>
            <a:ext cx="6263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B3232"/>
                </a:solidFill>
                <a:latin typeface="Calibri"/>
              </a:rPr>
              <a:t>A explorar: o caixa dos fundos em conta (float) e o cross-sell com a base de clientes da corretora — upside a quantificar.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guia_potencial_financeiro.md; guia_credenciamento_banco.md (dispensa de capital). Receita = PL × taxa; não é promessa de PL.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POR QUE VIGIAR CADA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O maior medo da corretora tem nome e valor.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6"/>
                </a:solidFill>
                <a:latin typeface="Calibri"/>
              </a:rPr>
              <a:t>A CVM pune o administrador e o custodiante quando falham na diligência — não só o fraudador. Cada fundo é uma porta que alguém pode tentar usar para fraude ou lavagem.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Silverado · FIDCs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0666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Recebíveis fictícios; cedentes ligados à gestora. Os administradores foram multados por falha de diligência.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4590288"/>
            <a:ext cx="2747162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R$ 490 mi · BNY Mellon, Santander e Gradual punidos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6234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2266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Banco Master · fundos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5652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2266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Fundos usados para triangular caixa e inflar ativos — R$ 850 mi marcados como R$ 10 bi. Banco liquidado.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22266" y="4590288"/>
            <a:ext cx="2747162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22266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veículo de lavagem · maior acionamento do FGC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1220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7252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FIP LSH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639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7252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Laudo do único ativo superfaturado; transferência de riqueza via cotas. Precificação de ilíquido como vetor.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7252" y="4590288"/>
            <a:ext cx="2747163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47252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sócios multados ~R$ 135 mi · ~R$ 400 mi lesados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544068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559552"/>
            <a:ext cx="99971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3F6FA"/>
                </a:solidFill>
                <a:latin typeface="Calibri"/>
              </a:rPr>
              <a:t>Os vetores se repetem: negócio a preço fora de mercado · ativo sem lastro · partes relacionadas · lavagem via cotas · descasamento de liquidez.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CVM — PAS Silverado 19957.006858/2019-25 (2024); imprensa (Banco Master, 2025); CVM (FIP LSH).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COMO VIGIAMOS BARATO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mesmo motor roda para 1 ou 500 fundos.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6A50AC"/>
                </a:solidFill>
                <a:latin typeface="Consolas"/>
              </a:rPr>
              <a:t>O QUE RODA TODO DIA, SOZINHO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" y="2756916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68833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Negócio fora de 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7157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self-dealing — boleta do gestor longe da marcação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854964" y="3204972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136391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Valuation de ilíquido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163823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nível 3 — laudo do gestor contestado antes de aceitar</a:t>
            </a:r>
          </a:p>
        </p:txBody>
      </p:sp>
      <p:sp>
        <p:nvSpPr>
          <p:cNvPr id="18" name="Oval 17"/>
          <p:cNvSpPr/>
          <p:nvPr/>
        </p:nvSpPr>
        <p:spPr>
          <a:xfrm>
            <a:off x="854964" y="3653028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5844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Conciliação de custódia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611879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posição interna × depositário — diferença sem lastro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" y="4101084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03250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Grafo de partes relacionadas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40599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autonegociação — contraparte ligada ao gestor</a:t>
            </a:r>
          </a:p>
        </p:txBody>
      </p:sp>
      <p:sp>
        <p:nvSpPr>
          <p:cNvPr id="24" name="Oval 23"/>
          <p:cNvSpPr/>
          <p:nvPr/>
        </p:nvSpPr>
        <p:spPr>
          <a:xfrm>
            <a:off x="854964" y="4549140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448056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Movimentação e timing (PLD)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45079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front-running, ida-e-volta, COAF — padrão atípico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" y="4997196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92861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Enquadramento e liquidez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49560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limite violado ou descasamento ativo × passivo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2651760"/>
            <a:ext cx="4309567" cy="22860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834640"/>
            <a:ext cx="3760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1FC0EF"/>
                </a:solidFill>
                <a:latin typeface="Consolas"/>
              </a:rPr>
              <a:t>O ARGUMENTO PARA O BANCO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163824"/>
            <a:ext cx="37609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As grandes não vigiam fundos pequenos assim — o custo manual não paga. Nós vigiamos todos com o mesmo rigor, porque o custo é de software.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0" y="4224528"/>
            <a:ext cx="376092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0" y="4352544"/>
            <a:ext cx="37609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C0EF"/>
                </a:solidFill>
                <a:latin typeface="Georgia"/>
              </a:rPr>
              <a:t>O fundo pequeno fica MAIS bem vigiado que na administradora tradicional — é o que nos deixa baratos e seguros ao mesmo tempo.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349240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Honesto: a IA prioriza alertas e grava a trilha de auditoria — não decide sozinha. Lastro real, conluio e documento forjado ainda exigem verificação humana/forense. No protótipo: 14 regras (R1–R14) em 7 categorias, grafo de vínculos e triagem com trilha; limiares são parametrização, não lei.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guia_controle_fraudes_riscos.md; Res. CVM 50/2021 (PLD, arts. 20 e 22); admin/fraude.php do protótipo.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RISCO DA CORRETORA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“E quando um gestor fizer besteira?” — três camadas de blindagem.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A norma protege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0704" y="3767328"/>
            <a:ext cx="194835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60704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Res. CVM 175: responsabilidade subjetiva (exige dolo/culpa) e de meio, não de fim. Sem solidariedade automática — cada um responde pela sua esfera.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855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801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801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A operação produz prova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801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6801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nenhuma cota publica sem aprovação formal do gestor; toda correção vira lançamento com trilha; conciliação diária em três frentes.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532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532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O monitoramento é total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7532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532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IA lê regulamentos e vigia negócios fora de mercado, partes relacionadas e o lastro na custódia — em 100% dos fundos, todos os dias.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317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263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63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O compliance manda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263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8263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o compliance da corretora designa o diretor, aprova os manuais, recebe relatórios e audita quando quiser. Envolvimento é blindagem.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guia_obrigacoes_riscos_banco.md; Res. CVM 175 art. 81.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PROVA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NÃO É IDEIA EM GUARDANAPO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 protótipo operacional, de ponta a ponta.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6A50AC"/>
                </a:solidFill>
                <a:latin typeface="Consolas"/>
              </a:rPr>
              <a:t>argusdtvm.com.br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3081527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01752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Do checklist de abertura ao informe diário à CVM.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" y="3611879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54787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Batch diário: marcação, cota e PL de qualquer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4142232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078224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Aprovação de cota pelo gestor e trilha de correções.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" y="467258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608576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Custódia, conciliação e contabilidade em partidas dobradas.</a:t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5202936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5138928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Passivo do cotista: come-cotas, IR e IOF (Lei 14.754).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669280"/>
            <a:ext cx="4663440" cy="603504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76986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B7F"/>
                </a:solidFill>
                <a:latin typeface="Calibri"/>
              </a:rPr>
              <a:t>Nota honesta: dados simulados. O protótipo prova a capacidade operacional — não substitui a licença nem a parceria que propomos.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331720"/>
            <a:ext cx="5223967" cy="3703320"/>
          </a:xfrm>
          <a:prstGeom prst="roundRect">
            <a:avLst>
              <a:gd name="adj" fmla="val 3000"/>
            </a:avLst>
          </a:prstGeom>
          <a:solidFill>
            <a:srgbClr val="17123A"/>
          </a:solidFill>
          <a:ln w="9525">
            <a:solidFill>
              <a:srgbClr val="17123A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7940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42532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07124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478024"/>
            <a:ext cx="4035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A8B6C6"/>
                </a:solidFill>
                <a:latin typeface="Consolas"/>
              </a:rPr>
              <a:t>ARGUS · PAINEL DO ADMINISTRADOR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2807208"/>
            <a:ext cx="4675327" cy="0"/>
          </a:xfrm>
          <a:prstGeom prst="line">
            <a:avLst/>
          </a:prstGeom>
          <a:ln w="6350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0" y="2990087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108959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CICLO DA COTA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300983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D-0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75623" y="2990087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8503" y="3108959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CONCILIAÇÃO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8503" y="3300983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3 FRENTES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813048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931920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INFORME CVM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123944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D+1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75623" y="3813048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8503" y="3931920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ANTIFRAUDE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8503" y="4123944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14 REGRAS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77840"/>
            <a:ext cx="4675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1FC0EF"/>
                </a:solidFill>
                <a:latin typeface="Consolas"/>
              </a:rPr>
              <a:t>Informe diário à CVM · gerado — D+1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CAMINHO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MAPA REGULATÓRIO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Todo o caminho já levantado e documentado.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Nós preparamos os dossiês; a corretora protocola e supervisiona. Nada aqui é território desconhecido.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Res. CVM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Administrador fiduciário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8992" y="4041648"/>
            <a:ext cx="1877491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Habilitação da corretora (SSM → ANBIMA → CVM). Prazo legal de 60 dias. Formulário, manuais e website entregues prontos.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98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773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Res. CVM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773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Custodiante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9773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9773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Autorização separada — CTVM é elegível. Pode ser terceirizada no início e internalizada em escala. Exige auditoria interna.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647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Adesões de mercado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B3 · SELIC · RSFN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647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647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Contas segregadas, liquidação DVP e mensageria do SPB. Ocorrem após o deferimento da custódia.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46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21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Dossiês prontos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21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Pacotes completos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21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3521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Matrizes de conformidade e manuais em custodiante/ e administrador_fiduciario/ — com o protótipo como anexo técnico.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guia_credenciamento_banco.md; custodiante/README.md; administrador_fiduciario/README.md.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CAMINHO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CRONOGRAMA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Do acordo ao go-live, em 12 a 18 meses.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55648" y="3200400"/>
            <a:ext cx="8680399" cy="0"/>
          </a:xfrm>
          <a:prstGeom prst="line">
            <a:avLst/>
          </a:prstGeom>
          <a:ln w="15240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733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3644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Mês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Acordo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Carta de intenções e consulta jurídica conjunta.</a:t>
            </a:r>
          </a:p>
        </p:txBody>
      </p:sp>
      <p:sp>
        <p:nvSpPr>
          <p:cNvPr id="17" name="Oval 16"/>
          <p:cNvSpPr/>
          <p:nvPr/>
        </p:nvSpPr>
        <p:spPr>
          <a:xfrm>
            <a:off x="38434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937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70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1–4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70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Habilitação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70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Administrador fiduciário na CVM (Res. 21, ~60 dias).</a:t>
            </a:r>
          </a:p>
        </p:txBody>
      </p:sp>
      <p:sp>
        <p:nvSpPr>
          <p:cNvPr id="22" name="Oval 21"/>
          <p:cNvSpPr/>
          <p:nvPr/>
        </p:nvSpPr>
        <p:spPr>
          <a:xfrm>
            <a:off x="60135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638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1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3–9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71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Custódia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71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Res. 32 + adesões B3/SELIC/RSFN, em paralelo.</a:t>
            </a:r>
          </a:p>
        </p:txBody>
      </p:sp>
      <p:sp>
        <p:nvSpPr>
          <p:cNvPr id="27" name="Oval 26"/>
          <p:cNvSpPr/>
          <p:nvPr/>
        </p:nvSpPr>
        <p:spPr>
          <a:xfrm>
            <a:off x="81836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339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72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6–12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72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Homologação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72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Mensageria, manuais e controles validados.</a:t>
            </a:r>
          </a:p>
        </p:txBody>
      </p:sp>
      <p:sp>
        <p:nvSpPr>
          <p:cNvPr id="32" name="Oval 31"/>
          <p:cNvSpPr/>
          <p:nvPr/>
        </p:nvSpPr>
        <p:spPr>
          <a:xfrm>
            <a:off x="103537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040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73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12–18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73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Operação assistida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73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3 a 5 fundos-piloto sob a licença, antes de escalar.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5532120"/>
            <a:ext cx="10509199" cy="56692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641848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7F"/>
                </a:solidFill>
                <a:latin typeface="Calibri"/>
              </a:rPr>
              <a:t>Começamos pela administração (viável já com poucos fundos) e tratamos a custódia em paralelo, internalizando-a só quando o volume de fundos justificar.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guia_custodia_conexoes.md; relatorio_gaps_producao_licenca.md. Prazos indicativos; o legal da Res. 21 é 60 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HONESTIDADE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RISCOS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Os riscos, antes que vocês perguntem.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514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POR QUE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514600"/>
            <a:ext cx="3376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COMO ENFRENTAMOS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0720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44368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Custo por fundo irredutível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94436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parte do custo pode não ser automatizável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944368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o piloto mede o custo unitário real antes de escalar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2044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593591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IA não pega fraudador competente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593591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fraude é feita para as contas fecharem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3593591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IA é apoio de uma camada humana de compliance, no plano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16966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242816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Auditor único barato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24281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compromete a independência exigida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242816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pulverizamos entre vários auditores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81888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892040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Receita modesta no início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8920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taxa é enxuta de propósito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92040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custo de entrada da corretora ~zero e alavancagem operacional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46811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Se algum desses riscos matar a tese, queremos descobrir no piloto — não na escala. É para isso que a fase assistida existe.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(§8).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O PEDIDO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PRÓXIMOS PASSOS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O que propomos hoje — três passos concretos.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Reunião técnica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5568" y="3950208"/>
            <a:ext cx="2680106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15568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com o time de tecnologia e o compliance de vocês, para abrir o modelo, os controles e o protótipo.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1474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5794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5794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Carta de intenções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5794" y="3950208"/>
            <a:ext cx="2680106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5794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não-vinculante, para detalharmos a divisão de resultado e de responsabilidades.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1700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6020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020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3 a 5 fundos-piloto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96020" y="3950208"/>
            <a:ext cx="268010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96020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sob a licença da corretora, com supervisão total de vocês e o custo unitário medido.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71500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FC0EF"/>
                </a:solidFill>
                <a:latin typeface="Georgia"/>
              </a:rPr>
              <a:t>Vocês já têm o mais difícil — a licença e a estrutura. Nós trazemos tudo pronto e reduzimos o seu risco. Podemos marcar a reunião técnica?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6459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1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FC0EF"/>
                </a:solidFill>
                <a:latin typeface="Georgia"/>
              </a:rPr>
              <a:t>A administradora desenhada para os fundos que ninguém quer atender.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32807" y="4709160"/>
            <a:ext cx="2926080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50">
                <a:solidFill>
                  <a:srgbClr val="A8B6C6"/>
                </a:solidFill>
                <a:latin typeface="Consolas"/>
              </a:rPr>
              <a:t>argusdtvm.com.br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6D8096"/>
                </a:solidFill>
                <a:latin typeface="Consolas"/>
              </a:rPr>
              <a:t>PROPOSTA DE PARCERIA · CONFIDENCIAL · PROTÓTIPO COM DADOS SIMULADOS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1179576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07008" y="1097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ANEXO · SUMÁRIO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081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3F6FA"/>
                </a:solidFill>
                <a:latin typeface="Georgia"/>
              </a:rPr>
              <a:t>Material de apoio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6"/>
                </a:solidFill>
                <a:latin typeface="Calibri"/>
              </a:rPr>
              <a:t>A apresentação principal termina no slide anterior. Os slides a seguir respondem às perguntas prováveis.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249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PRODUTO</a:t>
            </a:r>
          </a:p>
        </p:txBody>
      </p:sp>
      <p:sp>
        <p:nvSpPr>
          <p:cNvPr id="10" name="Oval 9"/>
          <p:cNvSpPr/>
          <p:nvPr/>
        </p:nvSpPr>
        <p:spPr>
          <a:xfrm>
            <a:off x="864108" y="3067811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9992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Viabilidade do cotista (% do CDI)</a:t>
            </a:r>
          </a:p>
        </p:txBody>
      </p:sp>
      <p:sp>
        <p:nvSpPr>
          <p:cNvPr id="12" name="Oval 11"/>
          <p:cNvSpPr/>
          <p:nvPr/>
        </p:nvSpPr>
        <p:spPr>
          <a:xfrm>
            <a:off x="864108" y="331469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246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Custo de cada 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027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NEGÓCIO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" y="3945636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877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Receita por escala</a:t>
            </a:r>
          </a:p>
        </p:txBody>
      </p:sp>
      <p:sp>
        <p:nvSpPr>
          <p:cNvPr id="17" name="Oval 16"/>
          <p:cNvSpPr/>
          <p:nvPr/>
        </p:nvSpPr>
        <p:spPr>
          <a:xfrm>
            <a:off x="864108" y="4192524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239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Custo da estrutura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80559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MERCADO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" y="482345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754879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Concorrência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" y="5070347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00176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tamanho da cauda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" y="5317235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5248655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piso dos grandes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249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VIGILÂNCIA</a:t>
            </a:r>
          </a:p>
        </p:txBody>
      </p:sp>
      <p:sp>
        <p:nvSpPr>
          <p:cNvPr id="27" name="Oval 26"/>
          <p:cNvSpPr/>
          <p:nvPr/>
        </p:nvSpPr>
        <p:spPr>
          <a:xfrm>
            <a:off x="6377940" y="3067811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29992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Tipologia → sinal → limite</a:t>
            </a:r>
          </a:p>
        </p:txBody>
      </p:sp>
      <p:sp>
        <p:nvSpPr>
          <p:cNvPr id="29" name="Oval 28"/>
          <p:cNvSpPr/>
          <p:nvPr/>
        </p:nvSpPr>
        <p:spPr>
          <a:xfrm>
            <a:off x="6377940" y="331469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246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Casos reais de fraude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6027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REGULATÓRIO</a:t>
            </a:r>
          </a:p>
        </p:txBody>
      </p:sp>
      <p:sp>
        <p:nvSpPr>
          <p:cNvPr id="32" name="Oval 31"/>
          <p:cNvSpPr/>
          <p:nvPr/>
        </p:nvSpPr>
        <p:spPr>
          <a:xfrm>
            <a:off x="6377940" y="3945636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3877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Taxa CVM do fundo</a:t>
            </a:r>
          </a:p>
        </p:txBody>
      </p:sp>
      <p:sp>
        <p:nvSpPr>
          <p:cNvPr id="34" name="Oval 33"/>
          <p:cNvSpPr/>
          <p:nvPr/>
        </p:nvSpPr>
        <p:spPr>
          <a:xfrm>
            <a:off x="6377940" y="4192524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1239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Quem faz o quê</a:t>
            </a:r>
          </a:p>
        </p:txBody>
      </p:sp>
      <p:sp>
        <p:nvSpPr>
          <p:cNvPr id="36" name="Oval 35"/>
          <p:cNvSpPr/>
          <p:nvPr/>
        </p:nvSpPr>
        <p:spPr>
          <a:xfrm>
            <a:off x="6377940" y="4439412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4370831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Obrigações de PLD/FT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727447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PARCERIA</a:t>
            </a:r>
          </a:p>
        </p:txBody>
      </p:sp>
      <p:sp>
        <p:nvSpPr>
          <p:cNvPr id="39" name="Oval 38"/>
          <p:cNvSpPr/>
          <p:nvPr/>
        </p:nvSpPr>
        <p:spPr>
          <a:xfrm>
            <a:off x="6377940" y="5070347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500176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que a corretora faz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358383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MÉTODO</a:t>
            </a:r>
          </a:p>
        </p:txBody>
      </p:sp>
      <p:sp>
        <p:nvSpPr>
          <p:cNvPr id="42" name="Oval 41"/>
          <p:cNvSpPr/>
          <p:nvPr/>
        </p:nvSpPr>
        <p:spPr>
          <a:xfrm>
            <a:off x="6377940" y="5701283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5632703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Fontes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" y="6071616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1248" y="61996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6D8096"/>
                </a:solidFill>
                <a:latin typeface="Consolas"/>
              </a:rPr>
              <a:t>ANEXO · DADOS, VIGILÂNCIA E FONTES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VIABILIDADE DO COTISTA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% do CDI — 1º ano e regime permanente.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51760"/>
          <a:ext cx="66751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863840" y="2743200"/>
            <a:ext cx="348660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No 1º ano o fundo não paga taxa CVM (se criado após abril) e fecha bem já em R$ 1 milhão. No regime permanente, a taxa CVM entra e o fundo de R$ 1 mi vira caso-limite (97% do CDI). A partir de R$ 5 mi, supera o CDI nos dois regimes.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(§7.1 e §7.2). Não vender o número do 1º ano como permanente.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CUSTO DE CADA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Onde vai o custo de um fundo de R$ 5 milhões.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97480"/>
          <a:ext cx="51206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2697480"/>
            <a:ext cx="5041087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A fatia da Argus é 0,08% — a menor da conta. O peso está na gestão (do gestor) e nos custos fixos regulatórios (taxa CVM, auditoria), que a plataforma reduz ao mínimo e a custódia via corretora zera para o fundo. É por isso que o fundo pequeno passa a fechar.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(§7). Taxa CVM R$3.162/ano (faixa até R$5mi); auditoria adaptada em lote.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NEGÓCIO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RECEITA POR ESCALA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receita = PL × taxa. Cresce com a 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RECEITA BRUTA ANUAL DA ADMINISTRADORA — R$ MIL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41248" y="2697480"/>
          <a:ext cx="10509199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guia_potencial_financeiro.md (§3). Fundos até ~R$800mi são o sweet spot: custo marginal ~zero permite taxa agressiva. Arit. sobre o PL — não é projeção de PL.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NEGÓCIO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CUSTO DA ESTRUTURA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Operar a administradora custa pouco.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VALOR/ANO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514600"/>
            <a:ext cx="2828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NATUREZA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0720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44368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Nuvem (AWS)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944368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~R$ 5.400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944368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escalável; ~R$0 sob o parceiro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41071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83863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Taxa CVM do administrador (PJ)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483863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~R$ 9.519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483863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some se operar sob o parceiro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95020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023360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Contribuição ANBIMA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4023360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negociada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023360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some se o parceiro já é associado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4897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562856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Seguro E&amp;O, contador, jurídico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4562856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cotar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562856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recorrente / pontual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02920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" y="5285232"/>
            <a:ext cx="10509199" cy="74980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394960"/>
            <a:ext cx="9960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Total da estrutura: da ordem de R$ 27 mil/ano (custódia terceirizada). Como o custo fixo é baixo e a receita escala com o PL, dobrar a base quase dobra o resultado — alavancagem operacional típica de software. O gargalo nunca foi custo; é fechar a parceria e captar fundos.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(§2–6); guia_potencial_financeiro.md (§2).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TAXA CVM DO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“vilão” dos fundos minúsculos — fixo por faixa.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97480"/>
          <a:ext cx="658368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0" y="2743200"/>
            <a:ext cx="357804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A taxa de fiscalização da CVM é fixa por faixa de PL — não cai para o fundo pequeno. É paga pelo fundo (não pela administradora) e some no 1º ano de fundos criados após abril.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Não é diluída por subclasse: incide sobre o PL, fatiado ou não.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Tabela oficial CVM (Lei 14.317). Valores anuais aproximados; confirmar vigência 2026 com a CVM.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CONCORRÊNCIA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infraestrutura de fundos foi toda para o FIDC.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60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FOCO CONFIRMADO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560320"/>
            <a:ext cx="2645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FUNDO PEQUENO GENÉRICO?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Kanastra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9008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/ crédito estruturado (exclusivo)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99008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 — explicitamente fora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1129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58444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QI Tech / Singulare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58444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Infra de crédito (SCD) + FIDC (&gt;1.000 fundos)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58444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10565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17880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Vórtx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417880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+ dívida estruturada (Full FIDC)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17880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Só gestoras grandes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70001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77316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BRLTrust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477316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+ crédito corporativo/distressed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77316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 como foco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29437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36752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Singulare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536752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(líder Uqbar há 10+ anos)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536752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88873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66928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Todas convergiram para crédito estruturado de ticket alto. O nicho de fundos pequenos genéricos (multimercado e RF) segue sem um dono — é exatamente onde entramos.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Sites das empresas e imprensa (Finsiders, Bloomberg Línea, NeoFeed, Let's Money), 2024–2026.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TAMANHO DA CAUDA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Muitos fundos pequenos, muitas gestoras pequenas.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~31 mil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3255264"/>
            <a:ext cx="2215819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fundos de investimento no país (dez/2024)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98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1.277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5998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5998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fundos com PL acima de R$ 1 bilhão — o resto é a cauda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976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7872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7872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gestoras; 51% com menos de R$ 400 milhões sob gestão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46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27.515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9746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9746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assessores de investimento (+502% em uma década)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" y="4937760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5120640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232"/>
                </a:solidFill>
                <a:latin typeface="Calibri"/>
              </a:rPr>
              <a:t>A concentração é no topo: as 50 maiores gestoras detêm 83% do patrimônio. A base — milhares de fundos pequenos e centenas de casas pequenas — é numerosa e mal atendida. É um mercado de muitos clientes de ticket baixo, que só fecha com custo de software.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ANBIMA (2024); ANCORD (assessores, dez/2025); imprensa especializada.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PISO DOS GRANDES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Taxa de administração em regulamentos reais.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06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060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TAXA DE ADMINISTRAÇÃO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606040"/>
            <a:ext cx="3468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PISO MENSAL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9864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035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BRL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0358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0,30% a.a. (ou o piso, o maior)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03580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R$ 25.000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37413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47287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Vórtx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3447287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1,25% a.a.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447287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R$ 25.000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78561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858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Reag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858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0,30% a.a.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85876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R$ 20.000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19709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2702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Oliveira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42702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0,06–0,16% a.a. (regressiva)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27024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R$ 16.250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60857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681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Singulare (hoje QI Tech)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4681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pacote adm + custódia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68172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R$ 15.500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02005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0932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Intrag / Itaú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50932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1,20% a.a. + piso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509320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R$ 3.000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543153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5504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1648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0,08% a.a. + piso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550468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58430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Regulamentos reais na CVM/Fundos.NET (fundos específicos, majoritariamente estruturados). Fintechs (Kanastra) 0,1–0,5% s/ ativos. Ver benchmark_precos_concorrencia.md.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QUEM FAZ O QUÊ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Os papéis de um fundo — e onde entramos.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FUNÇÃO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2560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RESPONSABILIDADE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560320"/>
            <a:ext cx="218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NA PARCERIA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Administrador fiduciário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990087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constituição, cota, PL, contabilidade e informes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990087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corretora responde · Argus executa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844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657599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Gestor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3657599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decisões de investimento e enquadramento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657599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cliente ou parceiro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251959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325112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Custodiante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4325112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guarda dos ativos, liquidação e conciliação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325112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corretora (ou terceiro no início)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91947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992623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Distribuidor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8" y="4992623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coloca o investidor dentro do fundo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4992623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corretora — sem licença nova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58698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71500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Distribuir cotas dos fundos que ele mesmo administra é permitido ao administrador (Res. CVM 21, art. 33) — um eixo extra de valor, sem obter autorização nova.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21/32/175; distribuidor/manual_banco_distribuidor.md.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QUE A MÁQUINA PEGA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Tipologia → sinal automático → onde o humano entra.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606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TIPOLOGIA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6032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SINAL DETECTÁVEL AUTOMÁTICO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560320"/>
            <a:ext cx="3559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LIMITE — PRECISA DE HUMANO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Negócio fora de 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90087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boleta do gestor desvia da marcação; laudo de ilíquido inflado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990087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avaliação de nível 3 = laudo independente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36499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38143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Ativo sem lastro (FIDC)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438143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posição não bate; NF-e/SPED; concentração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438143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existência do crédito = auditoria física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8130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886200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Partes relacionadas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886200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grafo liga a contraparte ao gestor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3886200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vínculo informal, fora do dado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2611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334256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Lavagem / laranjas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334256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aplica-resgata sem lógica; rede de vínculos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4334256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conluio; documento cadastral forjado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70916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782312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Desenquadramento / liquidez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782312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limite ou prazo violado; descasamento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4782312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determinístico — pega bem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1572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230368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Cota / retorno anômalo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230368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série fora de N desvios; retorno liso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5230368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quem faz “as contas fecharem”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560527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7F"/>
                </a:solidFill>
                <a:latin typeface="Calibri"/>
              </a:rPr>
              <a:t>O motor cobre o determinístico e a priorização por risco; a verificação física de lastro, o julgamento de conluio e o laudo de ilíquido ficam com o humano — desenho híbrido, com trilha de auditoria.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guia_controle_fraudes_riscos.md; Res. CVM 50/2021 (art. 20); literatura de AML (FATF; dataset Elliptic).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CASOS REAIS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padrão se repete — e o administrador também é punido.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560320"/>
            <a:ext cx="457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560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MECANISMO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560320"/>
            <a:ext cx="3148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SINAL NOS DADOS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2990087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Silverado / FIDCs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990087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990087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recebíveis fictícios; cedentes ligados à gestora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990087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lastro; grafo cedente↔gestor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336499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3438143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Cruzeiro do Sul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438143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3438143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~320 mil consignados falsos cedidos a FIDCs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438143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existência de CPF/contrato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38130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3886200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Banco Master*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886200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2023–25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38862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triangula caixa; ativo de R$ 850 mi vira R$ 10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3886200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fluxo circular; salto de marcação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2611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334256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FIP LSH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4334256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8808" y="4334256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laudo do único ativo superfaturado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4334256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salto de marcação sem evento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248" y="470916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1248" y="4782312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Front-running BB Asset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4782312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8" y="478231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ordens dos fundos vazadas a familiares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4782312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contraparte e timing recorrentes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" y="51572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5230368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Vorcaro / Jade*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5230368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2024–25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523036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ativo zerado após denúncia; write-down tardio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5230368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salto/queda de marcação sem fato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1248" y="560527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* Banco Master e Vorcaro/Jade: casos em apuração; mecanismo conforme autoridades e imprensa. Os demais têm decisão da CVM ou do Bacen.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CVM (PAS Silverado 2024; FIP LSH; BB Asset 2025); Bacen; imprensa — ver anexo de Fontes.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OBRIGAÇÕES DE PLD/FT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Res. CVM 50/2021 — o administrador é sujeito obrigado.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" y="2761488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80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Política e risco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26664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política de PLD/FT documentada + abordagem baseada em risco (baixo/médio/alto).</a:t>
            </a:r>
          </a:p>
        </p:txBody>
      </p:sp>
      <p:sp>
        <p:nvSpPr>
          <p:cNvPr id="14" name="Oval 13"/>
          <p:cNvSpPr/>
          <p:nvPr/>
        </p:nvSpPr>
        <p:spPr>
          <a:xfrm>
            <a:off x="6333591" y="2761488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2191" y="2697480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Conheça o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3026664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KYC e beneficiário final até a pessoa natural; cadastro atualizado em ≤ 5 anos.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69417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630168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Monitorar atípicas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959352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rastrear o rol do art. 20, sem valor mínimo — o R$ 50 mil em espécie é regra do BCB, não da CVM.</a:t>
            </a:r>
          </a:p>
        </p:txBody>
      </p:sp>
      <p:sp>
        <p:nvSpPr>
          <p:cNvPr id="20" name="Oval 19"/>
          <p:cNvSpPr/>
          <p:nvPr/>
        </p:nvSpPr>
        <p:spPr>
          <a:xfrm>
            <a:off x="6333591" y="369417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191" y="3630168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Comunicar ao COAF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191" y="3959352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em até 24 h da conclusão da análise, sob sigilo — sem avisar o comunicado.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462686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562856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Declaração negativa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892040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se nada houver a comunicar, declarar à CVM uma vez por ano (até abril).</a:t>
            </a:r>
          </a:p>
        </p:txBody>
      </p:sp>
      <p:sp>
        <p:nvSpPr>
          <p:cNvPr id="26" name="Oval 25"/>
          <p:cNvSpPr/>
          <p:nvPr/>
        </p:nvSpPr>
        <p:spPr>
          <a:xfrm>
            <a:off x="6333591" y="462686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2191" y="4562856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Guardar a prova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191" y="4892040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documentação e conclusões à disposição da CVM por no mínimo 5 anos.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468112"/>
            <a:ext cx="10509199" cy="457200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5550408"/>
            <a:ext cx="100519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A plataforma embute KYC, monitoramento e trilha — o PLD deixa de ser custo de equipe e vira função de software.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50/2021 (arts. 4–6, 11–17, 20, 22, 23, 26); Guia ANBIMA PLD/FTP 2025.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QUE A CORRETORA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Seis passos — e nós ajudamos em todos.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Habilitar-se administrador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protocolo na CVM (SSM/ANBIMA), ~60 dias — com os documentos que entregamos prontos.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6234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3978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9194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Designar diretores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3978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responsável pela administração fiduciária + controles internos (pessoas reais da casa).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220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8964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4180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Validar e assinar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964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os manuais, o formulário de referência e o website que preparamos.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Aderir ao Código ANBIMA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no mesmo protocolo da habilitação.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6234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3978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9194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Decidir a custódia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3978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contratar um terceiro no início ou licenciar-se (Res. 32 — CTVM é elegível) quando houver escala.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1220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8964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4180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Supervisionar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8964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compliance com acesso total, relatórios periódicos e direito de auditar.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80644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Custos ao parceiro: registro CVM ~R$ 2.380 (uma vez) e fiscalização ~R$ 9.519/ano (administrador); custódia ~R$ 38.077/ano só se internalizar.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guia_burocratico_regulatorio.md; guia_credenciamento_banco.md.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METODOLOGIA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FONTES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De onde vêm os números.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Modelo e economia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46888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Documentos internos do projeto (auditados): plano_dtvm_fundos_pequenos.md, guia_potencial_financeiro.md, planilha_custos.md — taxa 0,08%+R$100, viabilidade do cotista, custos.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316382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3291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Regulatório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29184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CVM — Resoluções 21 (administração), 32 (custódia), 50 (PLD) e 175 (estrutura); Lei 14.317 (taxa CVM). Pacotes em custodiante/ e administrador_fiduciario/.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98678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4114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Mercado e nicho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411480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ANBIMA (~31 mil fundos, 976 gestoras, 51% &lt;R$400mi); ANCORD (27.515 assessores); InfoMoney (custo de fundo pequeno R$ 50–70 mil/ano).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480974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Concorrência e juros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493776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Sites e imprensa sobre Kanastra, QI Tech, Vórtx, BRLTrust, Singulare (foco FIDC); BCB/Copom (Selic 14,25%, jun/2026).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56327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5815584"/>
            <a:ext cx="10189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Honestidade. </a:t>
            </a:r>
            <a:r>
              <a:rPr sz="1050" b="0" i="0">
                <a:solidFill>
                  <a:srgbClr val="5B6B7F"/>
                </a:solidFill>
                <a:latin typeface="Calibri"/>
              </a:rPr>
              <a:t>Números de mercado têm data-base citada; a receita é aritmética sobre o PL (não projeção de PL); a viabilidade do cotista assume CDI+1 e é conservadora com a Selic atual. O protótipo usa dados simulados e não substitui a licença nem a parceria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