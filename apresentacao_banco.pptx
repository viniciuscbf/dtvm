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Fatia do banco (25%)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R$ 200 mi</c:v>
                  </c:pt>
                  <c:pt idx="1">
                    <c:v>R$ 500 mi</c:v>
                  </c:pt>
                  <c:pt idx="2">
                    <c:v>R$ 1 bi</c:v>
                  </c:pt>
                  <c:pt idx="3">
                    <c:v>R$ 2 bi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Operação (75%)</c:v>
                </c:pt>
              </c:strCache>
            </c:strRef>
          </c:tx>
          <c:spPr>
            <a:solidFill>
              <a:srgbClr val="0E1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R$ 200 mi</c:v>
                  </c:pt>
                  <c:pt idx="1">
                    <c:v>R$ 500 mi</c:v>
                  </c:pt>
                  <c:pt idx="2">
                    <c:v>R$ 1 bi</c:v>
                  </c:pt>
                  <c:pt idx="3">
                    <c:v>R$ 2 bi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300</c:v>
                </c:pt>
                <c:pt idx="2">
                  <c:v>600</c:v>
                </c:pt>
                <c:pt idx="3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80"/>
                    </a:solidFill>
                    <a:latin typeface="Arial"/>
                  </a:rPr>
                  <a:t>patrimônio sob administração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80"/>
                    </a:solidFill>
                    <a:latin typeface="Arial"/>
                  </a:rPr>
                  <a:t>receita de administração (R$ mil/ano)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6B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agradecer, dizer que a conversa tem 20 minutos e que o objetivo e apresentar um conceito de negocio, nao um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o problema nao e regulatorio, e de estrutura de custos. O minimo regulatorio e 1 milhao; o minimo economico hoje e 30+ milhoes.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prometer numeros de mercado — a mensagem e qualitativa: existe demanda reprimida e zero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pode mencionar que existe um prototipo funcional de ponta a ponta, sem entrar em telas. O foco segue no conceito.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Frase-chave: o banco nao constroi nada e nao contrata ninguem para comecar — ele empresta a licenca e supervisiona.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honesto: a taxa de administracao sozinha e modesta no comeco (R$ 40 mil/ano para o banco em 200 mi). O argumento financeiro forte para um banco pequeno e o float + funding via CDB proprio. Deixar o comercial fazer essa conta com voce.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a pergunta 'mas alguem compra isso?'. O produto e vendavel porque entrega CDI+ ja em fundos de 5 milhoes.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 objecao central: 'e se o gestor fraudar, quem responde?'. Resposta: o banco responde na medida da diligencia — e a plataforma e a prova de diligencia.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nao estamos pedindo para o banco descobrir nada — entregamos o dossie pronto para cada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pedirem, o prototipo pode ser demonstrado em uma segunda reuniao, com o time tecnico. Nao abrir telas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 gera confianca: bancos pequenos sao conservadores e ja viram promessas demais. Assumir os riscos e o diferencial da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pedido concreto e a data: sair da reuniao com a proxima reuniao marcada.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737360"/>
            <a:ext cx="4937760" cy="4937760"/>
          </a:xfrm>
          <a:prstGeom prst="ellipse">
            <a:avLst/>
          </a:prstGeom>
          <a:solidFill>
            <a:srgbClr val="1B2F4B"/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3566160"/>
            <a:ext cx="2926080" cy="2926080"/>
          </a:xfrm>
          <a:prstGeom prst="ellipse">
            <a:avLst/>
          </a:prstGeom>
          <a:solidFill>
            <a:srgbClr val="1B2F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640080" cy="640080"/>
          </a:xfrm>
          <a:prstGeom prst="ellipse">
            <a:avLst/>
          </a:prstGeom>
          <a:solidFill>
            <a:srgbClr val="1B2F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839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PARCERIA · JULHO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fiduciária e custódia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fundos pequenos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nova linha de receita — e de captação — para o banco,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segmento que os grandes administradores ignoram.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Fernandes  ·  gestao@heritagecp.com.br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Fundos pequenos são inviáveis no Brasil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administrar um fundo é fixo — e os administradores tradicionais cobram por isso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157715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permite um fundo a partir de R$ 1 milhão.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cobra mínimos de R$ 3 mil a R$ 8 mil por mês só de administração fiduciária — antes de auditoria, custódia e taxa CVM.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97180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" y="3085917"/>
            <a:ext cx="247254" cy="247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8803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gestores independentes e assessorias que teriam R$ 1–10 milhões para começar simplesmente não abrem o fundo — ou pagam para trabalhar.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623560" y="132588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R$ 36–96 mil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580644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mínimo por ano num administrador tradicional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23560" y="310896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7F1D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064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6D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3,6% a 9,6%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806440" y="3931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patrimônio consumido por ano num fundo de R$ 1 milhão — impossível competir com o CDI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segmento inteiro sem oferta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quer um fundo de R$ 1–10 milhões hoje não tem para onde 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189719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Assessorias de investimento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escritórios no país; muitos querem o fundo próprio como produto e hoje não têm como viabilizá-lo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9272" y="1508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78308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989" y="189719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independentes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certificados que começariam pequeno — family offices, clubes migrando, estratégias de nicho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35624" y="15087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64224" y="178308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341" y="1897197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423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artesanal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64224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 fundo é um projeto de meses, com papelada manual; encerrar é ainda pior — o risco de tentar é alto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infraestrutura for construída desde o dia 1 para escala, o custo marginal de rodar o fundo nº 500 é quase o do fundo nº 5 — e o segmento passa a ser lucrativo.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automação de ponta a ponta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ciclo inteiro — o humano fica só onde a norma exige julgamento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153143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62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diária automatizada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4300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D-1: precificação, conciliação com o custodiante e prévia validada pelo gestor antes de publicar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41732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277" y="153143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362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automático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34924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diário CVM, balancete, CDA e perfil mensal, ANBIMA — no prazo, com protocolo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715768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2829885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Custódia integrada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143000" y="29900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do gestor → liquidação entrega-contra-pagamento → posição e caixa refletidos no mesmo dia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715768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277" y="2829885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 conformidade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349240" y="29900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regulamentos, monitoramento de fraude (preços fora da curva, partes relacionadas, ativos sem lastro)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0E1A2B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4069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ao cliente:  </a:t>
            </a:r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0,08% a.a. com piso de R$ 100/mês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10 a 40× mais barato que o praticado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modelo: cada um entra com o que já 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operacional com divisão de resultado — sem investimento em tecnologia pelo banco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805757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entra com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BCB e credenciamentos CVM (administração fiduciária + custódia)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dos fundos e liquidação financeira (conta Reservas)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que assina perante a CVM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69164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597" y="180575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entramos com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28600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tecnologia e a operação da controladoria, do onboarding ao reporte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dos fundos (gestores e canal de assessorias)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Manuais, controles e monitoramento que protegem o banco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422452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7F1DC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42245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da receita de administração:  </a:t>
            </a:r>
            <a:pPr indent="0" marL="0">
              <a:buNone/>
            </a:pPr>
            <a:r>
              <a:rPr lang="en-US" sz="1700" b="1" dirty="0">
                <a:solidFill>
                  <a:srgbClr val="8A6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banco  ·  75% operação</a:t>
            </a:r>
            <a:pPr indent="0" marL="0">
              <a:buNone/>
            </a:pPr>
            <a:r>
              <a:rPr lang="en-US" sz="12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(negociável)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para o banco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administração é o começo — o valor composto está no caixa e na captação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371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1600200"/>
            <a:ext cx="420624" cy="42062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390" y="1701150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5080" y="16276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no banco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806440" y="2103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dos fundos (3–7% do PL) fica em conta no banco: R$ 10–100 mi de recursos à vista conforme a escala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577840" y="32004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7F1D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06440" y="3429000"/>
            <a:ext cx="420624" cy="420624"/>
          </a:xfrm>
          <a:prstGeom prst="ellipse">
            <a:avLst/>
          </a:prstGeom>
          <a:solidFill>
            <a:srgbClr val="8A6D1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390" y="3529950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5080" y="3456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via CDB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806440" y="3931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de renda fixa compram CDBs — inclusive do próprio banco: funding novo, recorrente e pulverizado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produto vende: a conta fecha para o cotista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RF crédito privado (CDI+1, gestão 0,7% a.a.) com nossos custos — % do CDI líquido de custos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do fundo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total/ano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do CDI ao cotista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 milhão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8A6D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 milhões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 milhões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48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 milhões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48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 milhões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48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55448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117" y="1668597"/>
            <a:ext cx="247254" cy="247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14813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Competitivo a partir de R$ 2 milhões; supera o CDI de R$ 5 milhões em diante.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715000" y="274320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117" y="2857317"/>
            <a:ext cx="247254" cy="247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55080" y="26700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vilão do fundo minúsculo são custos fixos que não controlamos (auditoria, taxa CVM) — por isso o piso econômico é ~R$ 2 mi, e somos transparentes sobre isso.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Premissas: CDI 10,5% a.a.; carteira CDI+1; auditoria adaptada; custódia no pacote. Antes de IR. Rentabilidade passada não garante resultados.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risco do banco é controlado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não aumenta o risco regulatório — ela reduz o custo de supervisão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157715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na medida da norma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737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Res. CVM 175 estabelece responsabilidade subjetiva e de meio, sem solidariedade automática entre prestadores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46304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277" y="157715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validação diária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49240" y="1737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cota é publicada sem a aprovação formal do gestor; toda correção vira lançamento com trilha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01752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3131637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 diária em três frentes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3291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× custodiante, operações × gestor e caixa × extrato — divergências viram alertas com dono e prazo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3017520"/>
            <a:ext cx="475488" cy="475488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277" y="3131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349240" y="3291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vigia preços fora da curva, partes relacionadas e ativos sem lastro em 100% dos fundos, todos os dias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compliance do banco recebe acesso total, relatórios e direito de auditoria — </a:t>
            </a:r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 é blindagem, não intromissão.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12–18 meses até o giro completo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preparamos os dossiês e os manuais; o banco protocola e supervisiona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75104" cy="265176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Acordo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761488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intenções, divisão de resultado e responsabilidades; consulta jurídica conjunta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0–2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60904" y="1554480"/>
            <a:ext cx="1975104" cy="265176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43784" y="178308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8928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Licenças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843784" y="2761488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credenciamento de administrador fiduciário + autorização de custódia (Res. CVM 32) + adesões B3/SELIC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43784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2–8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18888" y="1554480"/>
            <a:ext cx="1975104" cy="2651760"/>
          </a:xfrm>
          <a:prstGeom prst="roundRect">
            <a:avLst>
              <a:gd name="adj" fmla="val 3704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01768" y="1783080"/>
            <a:ext cx="457200" cy="45720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89280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01768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Homologação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01768" y="2761488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 com as centrais, ambientes de certificação, manuais operacionais aprovados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01768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76872" y="1554480"/>
            <a:ext cx="1975104" cy="2651760"/>
          </a:xfrm>
          <a:prstGeom prst="roundRect">
            <a:avLst>
              <a:gd name="adj" fmla="val 3704"/>
            </a:avLst>
          </a:prstGeom>
          <a:solidFill>
            <a:srgbClr val="F7F1D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59752" y="1783080"/>
            <a:ext cx="457200" cy="457200"/>
          </a:xfrm>
          <a:prstGeom prst="ellipse">
            <a:avLst/>
          </a:prstGeom>
          <a:solidFill>
            <a:srgbClr val="8A6D1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9280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9752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Piloto e escala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159752" y="2761488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fundos reais em operação assistida; depois abre o canal de assessorias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159752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12–18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mapa regulatório (o que protocolar, onde, com quais documentos) já está levantado e documentado — inclusive o caminho completo para o banco se tornar custodiante.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projeto está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ideia em guardanapo — é um plano executável com protótipo funcionando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38912" cy="438912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61409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 completo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premissas de custo e a análise honesta dos pontos frágeis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379" y="161409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63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regulatório documentado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de fundos (CVM 175), custódia (CVM 32), PLD, obrigações contínuas e prazos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108960"/>
            <a:ext cx="438912" cy="438912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39" y="3214299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63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operacional de ponta a ponta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429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completo: abertura documental, boleta, liquidação, cota com aprovação do gestor, conciliação, reporte CVM e IA de monitoramento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108960"/>
            <a:ext cx="438912" cy="438912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79" y="3214299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63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produção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0" y="3429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mapeadas (tributação, contabilidade, integrações) com cronograma e prioridades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riscos que nós mesmos apontamos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Preferimos trazê-los antes que vocês perguntem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389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tratamos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 do custo por fundo pode ser irredutível (auditoria, fiscalização humana)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com 3–5 fundos-piloto medindo o custo unitário real antes de escalar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não pega o fraudador competente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é apoio: camada humana mínima de compliance definida e financiada no plano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único barato compromete a independência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pulverizar auditoria entre firmas; escopo eficiente, nunca cortado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de administração é modesta no início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caso financeiro do banco soma float + funding via CDB — e o custo de entrada do banco é ~zero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926080"/>
            <a:ext cx="4206240" cy="4206240"/>
          </a:xfrm>
          <a:prstGeom prst="ellipse">
            <a:avLst/>
          </a:prstGeom>
          <a:solidFill>
            <a:srgbClr val="1B2F4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920240"/>
            <a:ext cx="4023360" cy="4023360"/>
          </a:xfrm>
          <a:prstGeom prst="ellipse">
            <a:avLst/>
          </a:prstGeom>
          <a:solidFill>
            <a:srgbClr val="1B2F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03504" cy="603504"/>
          </a:xfrm>
          <a:prstGeom prst="ellipse">
            <a:avLst/>
          </a:prstGeom>
          <a:solidFill>
            <a:srgbClr val="1B2F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78492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estamos propondo hoje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66928" y="2286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4440" y="225856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reunião com o time técnico e o compliance do banco para abrir o modelo, os controles e o protótipo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29992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29718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intenções não-vinculante para detalharmos juntos a divisão de resultado e de responsabilidades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68503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fundos-piloto sob a licença do banco, com custo unitário medido e supervisão total de vocês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Fernandes   ·   gestao@heritagecp.com.br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Fiduciária e Custódia para Fundos Pequenos</dc:title>
  <dc:subject>PptxGenJS Presentation</dc:subject>
  <dc:creator>Vinicius Fernandes</dc:creator>
  <cp:lastModifiedBy>Vinicius Fernandes</cp:lastModifiedBy>
  <cp:revision>1</cp:revision>
  <dcterms:created xsi:type="dcterms:W3CDTF">2026-07-05T20:10:30Z</dcterms:created>
  <dcterms:modified xsi:type="dcterms:W3CDTF">2026-07-05T20:10:30Z</dcterms:modified>
</cp:coreProperties>
</file>